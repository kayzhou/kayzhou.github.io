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0" r:id="rId3"/>
  </p:sldMasterIdLst>
  <p:notesMasterIdLst>
    <p:notesMasterId r:id="rId5"/>
  </p:notesMasterIdLst>
  <p:handoutMasterIdLst>
    <p:handoutMasterId r:id="rId37"/>
  </p:handoutMasterIdLst>
  <p:sldIdLst>
    <p:sldId id="256" r:id="rId4"/>
    <p:sldId id="418" r:id="rId6"/>
    <p:sldId id="352" r:id="rId7"/>
    <p:sldId id="347" r:id="rId8"/>
    <p:sldId id="419" r:id="rId9"/>
    <p:sldId id="420" r:id="rId10"/>
    <p:sldId id="353" r:id="rId11"/>
    <p:sldId id="514" r:id="rId12"/>
    <p:sldId id="515" r:id="rId13"/>
    <p:sldId id="460" r:id="rId14"/>
    <p:sldId id="516" r:id="rId15"/>
    <p:sldId id="462" r:id="rId16"/>
    <p:sldId id="463" r:id="rId17"/>
    <p:sldId id="461" r:id="rId18"/>
    <p:sldId id="519" r:id="rId19"/>
    <p:sldId id="464" r:id="rId20"/>
    <p:sldId id="383" r:id="rId21"/>
    <p:sldId id="502" r:id="rId22"/>
    <p:sldId id="520" r:id="rId23"/>
    <p:sldId id="503" r:id="rId24"/>
    <p:sldId id="465" r:id="rId25"/>
    <p:sldId id="517" r:id="rId26"/>
    <p:sldId id="518" r:id="rId27"/>
    <p:sldId id="513" r:id="rId28"/>
    <p:sldId id="505" r:id="rId29"/>
    <p:sldId id="506" r:id="rId30"/>
    <p:sldId id="504" r:id="rId31"/>
    <p:sldId id="507" r:id="rId32"/>
    <p:sldId id="508" r:id="rId33"/>
    <p:sldId id="509" r:id="rId34"/>
    <p:sldId id="510" r:id="rId35"/>
    <p:sldId id="511" r:id="rId36"/>
  </p:sldIdLst>
  <p:sldSz cx="12192000" cy="6858000"/>
  <p:notesSz cx="6858000" cy="9144000"/>
  <p:embeddedFontLst>
    <p:embeddedFont>
      <p:font typeface="等线" panose="02010600030101010101" charset="-122"/>
      <p:regular r:id="rId41"/>
    </p:embeddedFont>
    <p:embeddedFont>
      <p:font typeface="微软雅黑" panose="020B0503020204020204" pitchFamily="34" charset="-122"/>
      <p:regular r:id="rId42"/>
    </p:embeddedFont>
    <p:embeddedFont>
      <p:font typeface="Microsoft YaHei UI" panose="020B0503020204020204" charset="-122"/>
      <p:regular r:id="rId43"/>
    </p:embeddedFont>
    <p:embeddedFont>
      <p:font typeface="Calibri" panose="020F0502020204030204" charset="0"/>
      <p:regular r:id="rId44"/>
      <p:bold r:id="rId45"/>
      <p:italic r:id="rId46"/>
      <p:boldItalic r:id="rId47"/>
    </p:embeddedFont>
  </p:embeddedFontLst>
  <p:custDataLst>
    <p:tags r:id="rId4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9" userDrawn="1">
          <p15:clr>
            <a:srgbClr val="A4A3A4"/>
          </p15:clr>
        </p15:guide>
        <p15:guide id="2" orient="horz" pos="4207" userDrawn="1">
          <p15:clr>
            <a:srgbClr val="A4A3A4"/>
          </p15:clr>
        </p15:guide>
        <p15:guide id="3" pos="260" userDrawn="1">
          <p15:clr>
            <a:srgbClr val="A4A3A4"/>
          </p15:clr>
        </p15:guide>
        <p15:guide id="4" pos="7440" userDrawn="1">
          <p15:clr>
            <a:srgbClr val="A4A3A4"/>
          </p15:clr>
        </p15:guide>
        <p15:guide id="6" orient="horz" pos="562" userDrawn="1">
          <p15:clr>
            <a:srgbClr val="A4A3A4"/>
          </p15:clr>
        </p15:guide>
        <p15:guide id="7" orient="horz" pos="3988" userDrawn="1">
          <p15:clr>
            <a:srgbClr val="A4A3A4"/>
          </p15:clr>
        </p15:guide>
        <p15:guide id="8" orient="horz" pos="38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showPr>
  <p:clrMru>
    <a:srgbClr val="F3F3F3"/>
    <a:srgbClr val="F7FCFE"/>
    <a:srgbClr val="FFFFFC"/>
    <a:srgbClr val="FFFFFF"/>
    <a:srgbClr val="E6E6E6"/>
    <a:srgbClr val="44BE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1" autoAdjust="0"/>
    <p:restoredTop sz="94618" autoAdjust="0"/>
  </p:normalViewPr>
  <p:slideViewPr>
    <p:cSldViewPr snapToGrid="0" showGuides="1">
      <p:cViewPr varScale="1">
        <p:scale>
          <a:sx n="70" d="100"/>
          <a:sy n="70" d="100"/>
        </p:scale>
        <p:origin x="-744" y="-108"/>
      </p:cViewPr>
      <p:guideLst>
        <p:guide orient="horz" pos="129"/>
        <p:guide orient="horz" pos="4207"/>
        <p:guide pos="260"/>
        <p:guide pos="7440"/>
        <p:guide orient="horz" pos="562"/>
        <p:guide orient="horz" pos="3988"/>
        <p:guide orient="horz" pos="3865"/>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8" Type="http://schemas.openxmlformats.org/officeDocument/2006/relationships/tags" Target="tags/tag8.xml"/><Relationship Id="rId47" Type="http://schemas.openxmlformats.org/officeDocument/2006/relationships/font" Target="fonts/font7.fntdata"/><Relationship Id="rId46" Type="http://schemas.openxmlformats.org/officeDocument/2006/relationships/font" Target="fonts/font6.fntdata"/><Relationship Id="rId45" Type="http://schemas.openxmlformats.org/officeDocument/2006/relationships/font" Target="fonts/font5.fntdata"/><Relationship Id="rId44" Type="http://schemas.openxmlformats.org/officeDocument/2006/relationships/font" Target="fonts/font4.fntdata"/><Relationship Id="rId43" Type="http://schemas.openxmlformats.org/officeDocument/2006/relationships/font" Target="fonts/font3.fntdata"/><Relationship Id="rId42" Type="http://schemas.openxmlformats.org/officeDocument/2006/relationships/font" Target="fonts/font2.fntdata"/><Relationship Id="rId41" Type="http://schemas.openxmlformats.org/officeDocument/2006/relationships/font" Target="fonts/font1.fntdata"/><Relationship Id="rId40" Type="http://schemas.openxmlformats.org/officeDocument/2006/relationships/tableStyles" Target="tableStyles.xml"/><Relationship Id="rId4" Type="http://schemas.openxmlformats.org/officeDocument/2006/relationships/slide" Target="slides/slide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cs typeface="Times New Roman" panose="020206030504050203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cs typeface="Times New Roman" panose="02020603050405020304" charset="0"/>
              </a:rPr>
            </a:fld>
            <a:endParaRPr lang="zh-CN" altLang="en-US">
              <a:cs typeface="Times New Roman" panose="020206030504050203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cs typeface="Times New Roman" panose="020206030504050203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cs typeface="Times New Roman" panose="02020603050405020304" charset="0"/>
              </a:rPr>
            </a:fld>
            <a:endParaRPr lang="zh-CN" altLang="en-US">
              <a:cs typeface="Times New Roman" panose="020206030504050203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cs typeface="Times New Roman" panose="020206030504050203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cs typeface="Times New Roman" panose="02020603050405020304" charset="0"/>
              </a:defRPr>
            </a:lvl1pPr>
          </a:lstStyle>
          <a:p>
            <a:fld id="{141743F9-9B08-422F-9ECE-BE7148BC7DD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cs typeface="Times New Roman" panose="020206030504050203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cs typeface="Times New Roman" panose="02020603050405020304" charset="0"/>
              </a:defRPr>
            </a:lvl1pPr>
          </a:lstStyle>
          <a:p>
            <a:fld id="{D34C0232-94FA-4EBE-BB9B-79FBE486032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Times New Roman" panose="02020603050405020304" charset="0"/>
      </a:defRPr>
    </a:lvl1pPr>
    <a:lvl2pPr marL="457200" algn="l" defTabSz="914400" rtl="0" eaLnBrk="1" latinLnBrk="0" hangingPunct="1">
      <a:defRPr sz="1200" kern="1200">
        <a:solidFill>
          <a:schemeClr val="tx1"/>
        </a:solidFill>
        <a:latin typeface="+mn-lt"/>
        <a:ea typeface="+mn-ea"/>
        <a:cs typeface="Times New Roman" panose="02020603050405020304" charset="0"/>
      </a:defRPr>
    </a:lvl2pPr>
    <a:lvl3pPr marL="914400" algn="l" defTabSz="914400" rtl="0" eaLnBrk="1" latinLnBrk="0" hangingPunct="1">
      <a:defRPr sz="1200" kern="1200">
        <a:solidFill>
          <a:schemeClr val="tx1"/>
        </a:solidFill>
        <a:latin typeface="+mn-lt"/>
        <a:ea typeface="+mn-ea"/>
        <a:cs typeface="Times New Roman" panose="02020603050405020304" charset="0"/>
      </a:defRPr>
    </a:lvl3pPr>
    <a:lvl4pPr marL="1371600" algn="l" defTabSz="914400" rtl="0" eaLnBrk="1" latinLnBrk="0" hangingPunct="1">
      <a:defRPr sz="1200" kern="1200">
        <a:solidFill>
          <a:schemeClr val="tx1"/>
        </a:solidFill>
        <a:latin typeface="+mn-lt"/>
        <a:ea typeface="+mn-ea"/>
        <a:cs typeface="Times New Roman" panose="02020603050405020304" charset="0"/>
      </a:defRPr>
    </a:lvl4pPr>
    <a:lvl5pPr marL="1828800" algn="l" defTabSz="914400" rtl="0" eaLnBrk="1" latinLnBrk="0" hangingPunct="1">
      <a:defRPr sz="1200" kern="1200">
        <a:solidFill>
          <a:schemeClr val="tx1"/>
        </a:solidFill>
        <a:latin typeface="+mn-lt"/>
        <a:ea typeface="+mn-ea"/>
        <a:cs typeface="Times New Roman" panose="020206030504050203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solidFill>
                <a:srgbClr val="404040"/>
              </a:solidFill>
              <a:latin typeface="微软雅黑" panose="020B0503020204020204" pitchFamily="34" charset="-122"/>
              <a:ea typeface="微软雅黑" panose="020B0503020204020204" pitchFamily="34" charset="-122"/>
              <a:sym typeface="+mn-ea"/>
            </a:endParaRPr>
          </a:p>
        </p:txBody>
      </p:sp>
      <p:sp>
        <p:nvSpPr>
          <p:cNvPr id="4" name="灯片编号占位符 3"/>
          <p:cNvSpPr>
            <a:spLocks noGrp="1"/>
          </p:cNvSpPr>
          <p:nvPr>
            <p:ph type="sldNum" sz="quarter" idx="10"/>
          </p:nvPr>
        </p:nvSpPr>
        <p:spPr/>
        <p:txBody>
          <a:bodyPr/>
          <a:lstStyle/>
          <a:p>
            <a:fld id="{D34C0232-94FA-4EBE-BB9B-79FBE486032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llm</a:t>
            </a:r>
            <a:r>
              <a:rPr lang="zh-CN" altLang="en-US"/>
              <a:t>表现出对某些个人或主题的偏见。这种偏见会干扰他们根据文本判断立场的能力，导致偏见立场判断。我们将这种偏差称为目标偏好偏差。</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矩形 1"/>
          <p:cNvSpPr/>
          <p:nvPr userDrawn="1"/>
        </p:nvSpPr>
        <p:spPr>
          <a:xfrm>
            <a:off x="3296910" y="162225"/>
            <a:ext cx="8893755" cy="56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Times New Roman" panose="02020603050405020304" charset="0"/>
              <a:sym typeface="Arial" panose="020B0604020202020204" pitchFamily="34" charset="0"/>
            </a:endParaRPr>
          </a:p>
        </p:txBody>
      </p:sp>
      <p:sp>
        <p:nvSpPr>
          <p:cNvPr id="3" name="矩形 2"/>
          <p:cNvSpPr/>
          <p:nvPr userDrawn="1"/>
        </p:nvSpPr>
        <p:spPr>
          <a:xfrm>
            <a:off x="1340" y="162225"/>
            <a:ext cx="240922" cy="56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Times New Roman" panose="02020603050405020304" charset="0"/>
              <a:sym typeface="Arial" panose="020B0604020202020204" pitchFamily="34" charset="0"/>
            </a:endParaRPr>
          </a:p>
        </p:txBody>
      </p:sp>
      <p:sp>
        <p:nvSpPr>
          <p:cNvPr id="4" name="矩形 3"/>
          <p:cNvSpPr/>
          <p:nvPr userDrawn="1"/>
        </p:nvSpPr>
        <p:spPr>
          <a:xfrm>
            <a:off x="273997" y="162225"/>
            <a:ext cx="64153" cy="56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Times New Roman" panose="02020603050405020304" charset="0"/>
              <a:sym typeface="Arial" panose="020B0604020202020204" pitchFamily="34" charset="0"/>
            </a:endParaRPr>
          </a:p>
        </p:txBody>
      </p:sp>
      <p:sp>
        <p:nvSpPr>
          <p:cNvPr id="5" name="文本框 4"/>
          <p:cNvSpPr txBox="1"/>
          <p:nvPr userDrawn="1"/>
        </p:nvSpPr>
        <p:spPr>
          <a:xfrm>
            <a:off x="369570" y="0"/>
            <a:ext cx="2951480" cy="648335"/>
          </a:xfrm>
          <a:prstGeom prst="rect">
            <a:avLst/>
          </a:prstGeom>
          <a:noFill/>
        </p:spPr>
        <p:txBody>
          <a:bodyPr wrap="square" rtlCol="0">
            <a:noAutofit/>
          </a:bodyPr>
          <a:lstStyle/>
          <a:p>
            <a:pPr lvl="0" algn="l">
              <a:defRPr/>
            </a:pPr>
            <a:r>
              <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Mitigating Biases of Large</a:t>
            </a:r>
            <a:r>
              <a:rPr 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 </a:t>
            </a:r>
            <a:r>
              <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Language Models in Stance Detection with</a:t>
            </a:r>
            <a:r>
              <a:rPr 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 </a:t>
            </a:r>
            <a:r>
              <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Counterfactual Augmented Calibration</a:t>
            </a:r>
            <a:endPar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advClick="0" advTm="5000"/>
    </mc:Choice>
    <mc:Fallback>
      <p:transition spd="med" advClick="0" advTm="5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内页-1">
    <p:spTree>
      <p:nvGrpSpPr>
        <p:cNvPr id="1" name=""/>
        <p:cNvGrpSpPr/>
        <p:nvPr/>
      </p:nvGrpSpPr>
      <p:grpSpPr>
        <a:xfrm>
          <a:off x="0" y="0"/>
          <a:ext cx="0" cy="0"/>
          <a:chOff x="0" y="0"/>
          <a:chExt cx="0" cy="0"/>
        </a:xfrm>
      </p:grpSpPr>
      <p:sp>
        <p:nvSpPr>
          <p:cNvPr id="2" name="矩形 1"/>
          <p:cNvSpPr/>
          <p:nvPr userDrawn="1"/>
        </p:nvSpPr>
        <p:spPr>
          <a:xfrm>
            <a:off x="3296910" y="162225"/>
            <a:ext cx="8893755" cy="56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Times New Roman" panose="02020603050405020304" charset="0"/>
              <a:sym typeface="Arial" panose="020B0604020202020204" pitchFamily="34" charset="0"/>
            </a:endParaRPr>
          </a:p>
        </p:txBody>
      </p:sp>
      <p:sp>
        <p:nvSpPr>
          <p:cNvPr id="3" name="矩形 2"/>
          <p:cNvSpPr/>
          <p:nvPr userDrawn="1"/>
        </p:nvSpPr>
        <p:spPr>
          <a:xfrm>
            <a:off x="1340" y="162225"/>
            <a:ext cx="240922" cy="56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Times New Roman" panose="02020603050405020304" charset="0"/>
              <a:sym typeface="Arial" panose="020B0604020202020204" pitchFamily="34" charset="0"/>
            </a:endParaRPr>
          </a:p>
        </p:txBody>
      </p:sp>
      <p:sp>
        <p:nvSpPr>
          <p:cNvPr id="4" name="矩形 3"/>
          <p:cNvSpPr/>
          <p:nvPr userDrawn="1"/>
        </p:nvSpPr>
        <p:spPr>
          <a:xfrm>
            <a:off x="273997" y="162225"/>
            <a:ext cx="64153" cy="5662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Times New Roman" panose="02020603050405020304" charset="0"/>
              <a:sym typeface="Arial" panose="020B0604020202020204" pitchFamily="34" charset="0"/>
            </a:endParaRPr>
          </a:p>
        </p:txBody>
      </p:sp>
      <p:sp>
        <p:nvSpPr>
          <p:cNvPr id="5" name="文本框 4"/>
          <p:cNvSpPr txBox="1"/>
          <p:nvPr userDrawn="1"/>
        </p:nvSpPr>
        <p:spPr>
          <a:xfrm>
            <a:off x="369570" y="0"/>
            <a:ext cx="2951480" cy="648335"/>
          </a:xfrm>
          <a:prstGeom prst="rect">
            <a:avLst/>
          </a:prstGeom>
          <a:noFill/>
        </p:spPr>
        <p:txBody>
          <a:bodyPr wrap="square" rtlCol="0">
            <a:noAutofit/>
          </a:bodyPr>
          <a:lstStyle/>
          <a:p>
            <a:pPr lvl="0" algn="l">
              <a:defRPr/>
            </a:pPr>
            <a:r>
              <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Mitigating Biases of Large</a:t>
            </a:r>
            <a:r>
              <a:rPr 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 </a:t>
            </a:r>
            <a:r>
              <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Language Models in Stance Detection with</a:t>
            </a:r>
            <a:r>
              <a:rPr 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 </a:t>
            </a:r>
            <a:r>
              <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rPr>
              <a:t>Counterfactual Augmented Calibration</a:t>
            </a:r>
            <a:endParaRPr sz="12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med" p14:dur="750" advClick="0" advTm="5000"/>
    </mc:Choice>
    <mc:Fallback>
      <p:transition spd="med" advClick="0" advTm="5000"/>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mc:Choice xmlns:p14="http://schemas.microsoft.com/office/powerpoint/2010/main" Requires="p14">
      <p:transition spd="med" p14:dur="750" advClick="0" advTm="5000"/>
    </mc:Choice>
    <mc:Fallback>
      <p:transition spd="med"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med" p14:dur="750" advClick="0" advTm="5000"/>
    </mc:Choice>
    <mc:Fallback>
      <p:transition spd="med" advClick="0" advTm="5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xml"/><Relationship Id="rId6" Type="http://schemas.openxmlformats.org/officeDocument/2006/relationships/tags" Target="../tags/tag3.xml"/><Relationship Id="rId5" Type="http://schemas.openxmlformats.org/officeDocument/2006/relationships/image" Target="../media/image6.png"/><Relationship Id="rId4" Type="http://schemas.openxmlformats.org/officeDocument/2006/relationships/tags" Target="../tags/tag2.xml"/><Relationship Id="rId3" Type="http://schemas.openxmlformats.org/officeDocument/2006/relationships/image" Target="../media/image5.png"/><Relationship Id="rId2" Type="http://schemas.openxmlformats.org/officeDocument/2006/relationships/tags" Target="../tags/tag1.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4.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tags" Target="../tags/tag5.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image" Target="../media/image21.png"/><Relationship Id="rId1"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tags" Target="../tags/tag6.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image" Target="../media/image31.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3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tags" Target="../tags/tag7.xml"/><Relationship Id="rId1" Type="http://schemas.openxmlformats.org/officeDocument/2006/relationships/image" Target="../media/image38.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40.png"/><Relationship Id="rId1" Type="http://schemas.openxmlformats.org/officeDocument/2006/relationships/image" Target="../media/image3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41.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4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xml"/><Relationship Id="rId1"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xml"/><Relationship Id="rId2" Type="http://schemas.openxmlformats.org/officeDocument/2006/relationships/image" Target="../media/image46.png"/><Relationship Id="rId1" Type="http://schemas.openxmlformats.org/officeDocument/2006/relationships/image" Target="../media/image4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13385" y="1284605"/>
            <a:ext cx="3337560" cy="5046345"/>
          </a:xfrm>
          <a:prstGeom prst="rect">
            <a:avLst/>
          </a:prstGeom>
        </p:spPr>
      </p:pic>
      <p:sp>
        <p:nvSpPr>
          <p:cNvPr id="5" name="文本框 4"/>
          <p:cNvSpPr txBox="1"/>
          <p:nvPr/>
        </p:nvSpPr>
        <p:spPr>
          <a:xfrm>
            <a:off x="4134485" y="1284605"/>
            <a:ext cx="7847330" cy="5455920"/>
          </a:xfrm>
          <a:prstGeom prst="rect">
            <a:avLst/>
          </a:prstGeom>
          <a:noFill/>
        </p:spPr>
        <p:txBody>
          <a:bodyPr wrap="square" rtlCol="0">
            <a:noAutofit/>
          </a:bodyPr>
          <a:lstStyle/>
          <a:p>
            <a:pPr lvl="0" algn="just">
              <a:defRPr/>
            </a:pPr>
            <a:r>
              <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rPr>
              <a:t>Mitigating Biases </a:t>
            </a:r>
            <a:endPar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endParaRPr>
          </a:p>
          <a:p>
            <a:pPr lvl="0" algn="just">
              <a:defRPr/>
            </a:pPr>
            <a:r>
              <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rPr>
              <a:t>of Large Language Models </a:t>
            </a:r>
            <a:endPar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endParaRPr>
          </a:p>
          <a:p>
            <a:pPr lvl="0" algn="just">
              <a:defRPr/>
            </a:pPr>
            <a:r>
              <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rPr>
              <a:t>in Stance Detection </a:t>
            </a:r>
            <a:endPar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endParaRPr>
          </a:p>
          <a:p>
            <a:pPr lvl="0" algn="just">
              <a:defRPr/>
            </a:pPr>
            <a:r>
              <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rPr>
              <a:t>with</a:t>
            </a:r>
            <a:r>
              <a:rPr lang="en-US"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rPr>
              <a:t> </a:t>
            </a:r>
            <a:r>
              <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rPr>
              <a:t>Counterfactual Augmented Calibration</a:t>
            </a:r>
            <a:endParaRPr sz="3600" b="1" dirty="0">
              <a:solidFill>
                <a:schemeClr val="tx1">
                  <a:lumMod val="75000"/>
                  <a:lumOff val="25000"/>
                </a:schemeClr>
              </a:solidFill>
              <a:latin typeface="微软雅黑" panose="020B0503020204020204" pitchFamily="34" charset="-122"/>
              <a:ea typeface="微软雅黑" panose="020B0503020204020204" pitchFamily="34" charset="-122"/>
              <a:cs typeface="Times New Roman" panose="02020603050405020304" charset="0"/>
            </a:endParaRPr>
          </a:p>
        </p:txBody>
      </p:sp>
      <p:cxnSp>
        <p:nvCxnSpPr>
          <p:cNvPr id="7" name="直接连接符 6"/>
          <p:cNvCxnSpPr/>
          <p:nvPr/>
        </p:nvCxnSpPr>
        <p:spPr>
          <a:xfrm>
            <a:off x="4749297" y="4162755"/>
            <a:ext cx="7061788" cy="0"/>
          </a:xfrm>
          <a:prstGeom prst="line">
            <a:avLst/>
          </a:prstGeom>
          <a:ln w="6350">
            <a:solidFill>
              <a:srgbClr val="404040"/>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4683125" y="4264343"/>
            <a:ext cx="7127875"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用反事实增强校准缓解大型语言模型在立场检测中的偏差</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540"/>
            <a:ext cx="4064000" cy="829945"/>
          </a:xfrm>
          <a:prstGeom prst="rect">
            <a:avLst/>
          </a:prstGeom>
          <a:noFill/>
        </p:spPr>
        <p:txBody>
          <a:bodyPr wrap="square" rtlCol="0" anchor="ctr">
            <a:spAutoFit/>
          </a:bodyPr>
          <a:p>
            <a:pPr algn="l">
              <a:lnSpc>
                <a:spcPct val="120000"/>
              </a:lnSpc>
            </a:pP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作者介绍</a:t>
            </a:r>
            <a:endPar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7" name="文本框 6"/>
          <p:cNvSpPr txBox="1"/>
          <p:nvPr/>
        </p:nvSpPr>
        <p:spPr>
          <a:xfrm>
            <a:off x="725805" y="3585210"/>
            <a:ext cx="9721215" cy="423545"/>
          </a:xfrm>
          <a:prstGeom prst="rect">
            <a:avLst/>
          </a:prstGeom>
          <a:noFill/>
        </p:spPr>
        <p:txBody>
          <a:bodyPr wrap="square" rtlCol="0" anchor="ctr">
            <a:spAutoFit/>
          </a:bodyPr>
          <a:p>
            <a:pPr indent="457200" fontAlgn="auto">
              <a:lnSpc>
                <a:spcPct val="120000"/>
              </a:lnSpc>
            </a:pPr>
            <a:endParaRPr lang="zh-CN" altLang="en-US" dirty="0" smtClean="0">
              <a:solidFill>
                <a:schemeClr val="tx1">
                  <a:lumMod val="75000"/>
                  <a:lumOff val="25000"/>
                </a:schemeClr>
              </a:solidFill>
              <a:cs typeface="Times New Roman" panose="02020603050405020304" charset="0"/>
            </a:endParaRPr>
          </a:p>
        </p:txBody>
      </p:sp>
      <p:pic>
        <p:nvPicPr>
          <p:cNvPr id="2" name="图片 1"/>
          <p:cNvPicPr>
            <a:picLocks noChangeAspect="1"/>
          </p:cNvPicPr>
          <p:nvPr/>
        </p:nvPicPr>
        <p:blipFill>
          <a:blip r:embed="rId1"/>
          <a:stretch>
            <a:fillRect/>
          </a:stretch>
        </p:blipFill>
        <p:spPr>
          <a:xfrm>
            <a:off x="2802255" y="2105025"/>
            <a:ext cx="6988175" cy="1376680"/>
          </a:xfrm>
          <a:prstGeom prst="rect">
            <a:avLst/>
          </a:prstGeom>
        </p:spPr>
      </p:pic>
      <p:sp>
        <p:nvSpPr>
          <p:cNvPr id="3" name="文本框 2"/>
          <p:cNvSpPr txBox="1"/>
          <p:nvPr/>
        </p:nvSpPr>
        <p:spPr>
          <a:xfrm>
            <a:off x="3306445" y="4008755"/>
            <a:ext cx="5579110" cy="2084070"/>
          </a:xfrm>
          <a:prstGeom prst="rect">
            <a:avLst/>
          </a:prstGeom>
          <a:noFill/>
        </p:spPr>
        <p:txBody>
          <a:bodyPr wrap="square" rtlCol="0" anchor="ctr">
            <a:spAutoFit/>
          </a:bodyPr>
          <a:p>
            <a:pPr algn="ctr">
              <a:lnSpc>
                <a:spcPct val="120000"/>
              </a:lnSpc>
            </a:pPr>
            <a:r>
              <a:rPr lang="zh-CN" altLang="en-US" dirty="0" smtClean="0">
                <a:solidFill>
                  <a:schemeClr val="tx1">
                    <a:lumMod val="75000"/>
                    <a:lumOff val="25000"/>
                  </a:schemeClr>
                </a:solidFill>
              </a:rPr>
              <a:t>哈尔滨工业大学</a:t>
            </a:r>
            <a:endParaRPr lang="zh-CN" altLang="en-US" dirty="0" smtClean="0">
              <a:solidFill>
                <a:schemeClr val="tx1">
                  <a:lumMod val="75000"/>
                  <a:lumOff val="25000"/>
                </a:schemeClr>
              </a:solidFill>
            </a:endParaRPr>
          </a:p>
          <a:p>
            <a:pPr algn="ctr">
              <a:lnSpc>
                <a:spcPct val="120000"/>
              </a:lnSpc>
            </a:pPr>
            <a:r>
              <a:rPr lang="zh-CN" altLang="en-US" dirty="0" smtClean="0">
                <a:solidFill>
                  <a:schemeClr val="tx1">
                    <a:lumMod val="75000"/>
                    <a:lumOff val="25000"/>
                  </a:schemeClr>
                </a:solidFill>
              </a:rPr>
              <a:t>鹏城实验室</a:t>
            </a:r>
            <a:endParaRPr lang="zh-CN" altLang="en-US" dirty="0" smtClean="0">
              <a:solidFill>
                <a:schemeClr val="tx1">
                  <a:lumMod val="75000"/>
                  <a:lumOff val="25000"/>
                </a:schemeClr>
              </a:solidFill>
            </a:endParaRPr>
          </a:p>
          <a:p>
            <a:pPr algn="ctr">
              <a:lnSpc>
                <a:spcPct val="120000"/>
              </a:lnSpc>
            </a:pPr>
            <a:r>
              <a:rPr lang="zh-CN" altLang="en-US" dirty="0" smtClean="0">
                <a:solidFill>
                  <a:schemeClr val="tx1">
                    <a:lumMod val="75000"/>
                    <a:lumOff val="25000"/>
                  </a:schemeClr>
                </a:solidFill>
              </a:rPr>
              <a:t>广东省信息安全技术重点实验室（中山大学）</a:t>
            </a:r>
            <a:endParaRPr lang="zh-CN" altLang="en-US" dirty="0" smtClean="0">
              <a:solidFill>
                <a:schemeClr val="tx1">
                  <a:lumMod val="75000"/>
                  <a:lumOff val="25000"/>
                </a:schemeClr>
              </a:solidFill>
            </a:endParaRPr>
          </a:p>
          <a:p>
            <a:pPr algn="ctr">
              <a:lnSpc>
                <a:spcPct val="120000"/>
              </a:lnSpc>
            </a:pPr>
            <a:r>
              <a:rPr lang="zh-CN" altLang="en-US" dirty="0" smtClean="0">
                <a:solidFill>
                  <a:schemeClr val="tx1">
                    <a:lumMod val="75000"/>
                    <a:lumOff val="25000"/>
                  </a:schemeClr>
                </a:solidFill>
              </a:rPr>
              <a:t>香港中文大学</a:t>
            </a:r>
            <a:endParaRPr lang="zh-CN" altLang="en-US" dirty="0" smtClean="0">
              <a:solidFill>
                <a:schemeClr val="tx1">
                  <a:lumMod val="75000"/>
                  <a:lumOff val="25000"/>
                </a:schemeClr>
              </a:solidFill>
            </a:endParaRPr>
          </a:p>
          <a:p>
            <a:pPr algn="ctr">
              <a:lnSpc>
                <a:spcPct val="120000"/>
              </a:lnSpc>
            </a:pPr>
            <a:r>
              <a:rPr lang="zh-CN" altLang="en-US" dirty="0" smtClean="0">
                <a:solidFill>
                  <a:schemeClr val="tx1">
                    <a:lumMod val="75000"/>
                    <a:lumOff val="25000"/>
                  </a:schemeClr>
                </a:solidFill>
              </a:rPr>
              <a:t>伦敦国王学院</a:t>
            </a:r>
            <a:endParaRPr lang="zh-CN" altLang="en-US" dirty="0" smtClean="0">
              <a:solidFill>
                <a:schemeClr val="tx1">
                  <a:lumMod val="75000"/>
                  <a:lumOff val="25000"/>
                </a:schemeClr>
              </a:solidFill>
            </a:endParaRPr>
          </a:p>
          <a:p>
            <a:pPr algn="ctr">
              <a:lnSpc>
                <a:spcPct val="120000"/>
              </a:lnSpc>
            </a:pPr>
            <a:r>
              <a:rPr lang="zh-CN" altLang="en-US" dirty="0" smtClean="0">
                <a:solidFill>
                  <a:schemeClr val="tx1">
                    <a:lumMod val="75000"/>
                    <a:lumOff val="25000"/>
                  </a:schemeClr>
                </a:solidFill>
              </a:rPr>
              <a:t>中国电子科技集团公司第三十六研究所</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721995"/>
            <a:ext cx="4064000" cy="829945"/>
          </a:xfrm>
          <a:prstGeom prst="rect">
            <a:avLst/>
          </a:prstGeom>
          <a:noFill/>
        </p:spPr>
        <p:txBody>
          <a:bodyPr wrap="square" rtlCol="0" anchor="ctr">
            <a:spAutoFit/>
          </a:bodyPr>
          <a:p>
            <a:pPr algn="l">
              <a:lnSpc>
                <a:spcPct val="120000"/>
              </a:lnSpc>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1</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Abstract</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7" name="文本框 6"/>
          <p:cNvSpPr txBox="1"/>
          <p:nvPr/>
        </p:nvSpPr>
        <p:spPr>
          <a:xfrm>
            <a:off x="725805" y="1551623"/>
            <a:ext cx="9721215" cy="5073650"/>
          </a:xfrm>
          <a:prstGeom prst="rect">
            <a:avLst/>
          </a:prstGeom>
          <a:noFill/>
        </p:spPr>
        <p:txBody>
          <a:bodyPr wrap="square" rtlCol="0" anchor="ctr">
            <a:spAutoFit/>
          </a:bodyPr>
          <a:p>
            <a:pPr indent="457200" fontAlgn="auto">
              <a:lnSpc>
                <a:spcPct val="120000"/>
              </a:lnSpc>
            </a:pPr>
            <a:r>
              <a:rPr dirty="0" smtClean="0">
                <a:solidFill>
                  <a:schemeClr val="tx1">
                    <a:lumMod val="75000"/>
                    <a:lumOff val="25000"/>
                  </a:schemeClr>
                </a:solidFill>
                <a:cs typeface="Times New Roman" panose="02020603050405020304" charset="0"/>
              </a:rPr>
              <a:t>立场检测对于理解人们对某个话题所表达的潜在立场或态度至关重要。大型语言模型（llm）已经在包括</a:t>
            </a:r>
            <a:r>
              <a:rPr lang="zh-CN" dirty="0" smtClean="0">
                <a:solidFill>
                  <a:schemeClr val="tx1">
                    <a:lumMod val="75000"/>
                    <a:lumOff val="25000"/>
                  </a:schemeClr>
                </a:solidFill>
                <a:cs typeface="Times New Roman" panose="02020603050405020304" charset="0"/>
              </a:rPr>
              <a:t>立场</a:t>
            </a:r>
            <a:r>
              <a:rPr dirty="0" smtClean="0">
                <a:solidFill>
                  <a:schemeClr val="tx1">
                    <a:lumMod val="75000"/>
                    <a:lumOff val="25000"/>
                  </a:schemeClr>
                </a:solidFill>
                <a:cs typeface="Times New Roman" panose="02020603050405020304" charset="0"/>
              </a:rPr>
              <a:t>检测在内的各种自然语言处理任务中取得了重大进展</a:t>
            </a:r>
            <a:r>
              <a:rPr lang="zh-CN" dirty="0" smtClean="0">
                <a:solidFill>
                  <a:schemeClr val="tx1">
                    <a:lumMod val="75000"/>
                    <a:lumOff val="25000"/>
                  </a:schemeClr>
                </a:solidFill>
                <a:cs typeface="Times New Roman" panose="02020603050405020304" charset="0"/>
              </a:rPr>
              <a:t>。</a:t>
            </a:r>
            <a:endParaRPr lang="zh-CN" dirty="0" smtClean="0">
              <a:solidFill>
                <a:schemeClr val="tx1">
                  <a:lumMod val="75000"/>
                  <a:lumOff val="25000"/>
                </a:schemeClr>
              </a:solidFill>
              <a:cs typeface="Times New Roman" panose="02020603050405020304" charset="0"/>
            </a:endParaRPr>
          </a:p>
          <a:p>
            <a:pPr indent="457200" fontAlgn="auto">
              <a:lnSpc>
                <a:spcPct val="120000"/>
              </a:lnSpc>
            </a:pPr>
            <a:r>
              <a:rPr lang="zh-CN" dirty="0" smtClean="0">
                <a:solidFill>
                  <a:srgbClr val="92D050"/>
                </a:solidFill>
                <a:cs typeface="Times New Roman" panose="02020603050405020304" charset="0"/>
              </a:rPr>
              <a:t>（背景：立场检测与</a:t>
            </a:r>
            <a:r>
              <a:rPr lang="en-US" altLang="zh-CN" dirty="0" smtClean="0">
                <a:solidFill>
                  <a:srgbClr val="92D050"/>
                </a:solidFill>
                <a:cs typeface="Times New Roman" panose="02020603050405020304" charset="0"/>
              </a:rPr>
              <a:t>llm</a:t>
            </a:r>
            <a:r>
              <a:rPr lang="zh-CN" dirty="0" smtClean="0">
                <a:solidFill>
                  <a:srgbClr val="92D050"/>
                </a:solidFill>
                <a:cs typeface="Times New Roman" panose="02020603050405020304" charset="0"/>
              </a:rPr>
              <a:t>）</a:t>
            </a:r>
            <a:endParaRPr lang="zh-CN" dirty="0" smtClean="0">
              <a:solidFill>
                <a:srgbClr val="92D050"/>
              </a:solidFill>
              <a:cs typeface="Times New Roman" panose="02020603050405020304" charset="0"/>
            </a:endParaRPr>
          </a:p>
          <a:p>
            <a:pPr indent="457200" fontAlgn="auto">
              <a:lnSpc>
                <a:spcPct val="120000"/>
              </a:lnSpc>
            </a:pPr>
            <a:endParaRPr dirty="0" smtClean="0">
              <a:solidFill>
                <a:srgbClr val="92D050"/>
              </a:solidFill>
              <a:cs typeface="Times New Roman" panose="02020603050405020304" charset="0"/>
            </a:endParaRPr>
          </a:p>
          <a:p>
            <a:pPr indent="457200" fontAlgn="auto">
              <a:lnSpc>
                <a:spcPct val="120000"/>
              </a:lnSpc>
            </a:pPr>
            <a:r>
              <a:rPr dirty="0" smtClean="0">
                <a:solidFill>
                  <a:schemeClr val="tx1">
                    <a:lumMod val="75000"/>
                    <a:lumOff val="25000"/>
                  </a:schemeClr>
                </a:solidFill>
                <a:cs typeface="Times New Roman" panose="02020603050405020304" charset="0"/>
              </a:rPr>
              <a:t>然而，它们在立场检测中的性能受到数据驱动性质所固有的偏差和虚假相关性的限制。统计实验表明，由于</a:t>
            </a:r>
            <a:r>
              <a:rPr dirty="0" smtClean="0">
                <a:solidFill>
                  <a:schemeClr val="tx1">
                    <a:lumMod val="75000"/>
                    <a:lumOff val="25000"/>
                  </a:schemeClr>
                </a:solidFill>
                <a:highlight>
                  <a:srgbClr val="FFFF00"/>
                </a:highlight>
                <a:cs typeface="Times New Roman" panose="02020603050405020304" charset="0"/>
              </a:rPr>
              <a:t>情感-立场虚假关联</a:t>
            </a:r>
            <a:r>
              <a:rPr dirty="0" smtClean="0">
                <a:solidFill>
                  <a:schemeClr val="tx1">
                    <a:lumMod val="75000"/>
                    <a:lumOff val="25000"/>
                  </a:schemeClr>
                </a:solidFill>
                <a:cs typeface="Times New Roman" panose="02020603050405020304" charset="0"/>
              </a:rPr>
              <a:t>和</a:t>
            </a:r>
            <a:r>
              <a:rPr dirty="0" smtClean="0">
                <a:solidFill>
                  <a:schemeClr val="tx1">
                    <a:lumMod val="75000"/>
                    <a:lumOff val="25000"/>
                  </a:schemeClr>
                </a:solidFill>
                <a:highlight>
                  <a:srgbClr val="FFFF00"/>
                </a:highlight>
                <a:cs typeface="Times New Roman" panose="02020603050405020304" charset="0"/>
              </a:rPr>
              <a:t>对某些个人和话题的偏好</a:t>
            </a:r>
            <a:r>
              <a:rPr dirty="0" smtClean="0">
                <a:solidFill>
                  <a:schemeClr val="tx1">
                    <a:lumMod val="75000"/>
                    <a:lumOff val="25000"/>
                  </a:schemeClr>
                </a:solidFill>
                <a:cs typeface="Times New Roman" panose="02020603050405020304" charset="0"/>
              </a:rPr>
              <a:t>，llm容易产生偏见立场。此外，结果表明立场偏见和立场检测性能之间存在很强的负相关，强调了缓解偏见对增强llm在立场检测中的效用的重要性。</a:t>
            </a:r>
            <a:endParaRPr dirty="0" smtClean="0">
              <a:solidFill>
                <a:schemeClr val="tx1">
                  <a:lumMod val="75000"/>
                  <a:lumOff val="25000"/>
                </a:schemeClr>
              </a:solidFill>
              <a:cs typeface="Times New Roman" panose="02020603050405020304" charset="0"/>
            </a:endParaRPr>
          </a:p>
          <a:p>
            <a:pPr indent="457200" fontAlgn="auto">
              <a:lnSpc>
                <a:spcPct val="120000"/>
              </a:lnSpc>
            </a:pPr>
            <a:r>
              <a:rPr lang="zh-CN" dirty="0" smtClean="0">
                <a:solidFill>
                  <a:srgbClr val="92D050"/>
                </a:solidFill>
                <a:cs typeface="Times New Roman" panose="02020603050405020304" charset="0"/>
              </a:rPr>
              <a:t>（问题：两种情况会使</a:t>
            </a:r>
            <a:r>
              <a:rPr lang="en-US" altLang="zh-CN" dirty="0" smtClean="0">
                <a:solidFill>
                  <a:srgbClr val="92D050"/>
                </a:solidFill>
                <a:cs typeface="Times New Roman" panose="02020603050405020304" charset="0"/>
              </a:rPr>
              <a:t>llm</a:t>
            </a:r>
            <a:r>
              <a:rPr lang="zh-CN" altLang="en-US" dirty="0" smtClean="0">
                <a:solidFill>
                  <a:srgbClr val="92D050"/>
                </a:solidFill>
                <a:cs typeface="Times New Roman" panose="02020603050405020304" charset="0"/>
              </a:rPr>
              <a:t>产生偏见，从而降低检测性能，因此需要缓解偏见</a:t>
            </a:r>
            <a:r>
              <a:rPr lang="zh-CN" dirty="0" smtClean="0">
                <a:solidFill>
                  <a:srgbClr val="92D050"/>
                </a:solidFill>
                <a:cs typeface="Times New Roman" panose="02020603050405020304" charset="0"/>
              </a:rPr>
              <a:t>）</a:t>
            </a:r>
            <a:endParaRPr lang="zh-CN" dirty="0" smtClean="0">
              <a:solidFill>
                <a:srgbClr val="92D050"/>
              </a:solidFill>
              <a:cs typeface="Times New Roman" panose="02020603050405020304" charset="0"/>
            </a:endParaRPr>
          </a:p>
          <a:p>
            <a:pPr indent="457200" fontAlgn="auto">
              <a:lnSpc>
                <a:spcPct val="120000"/>
              </a:lnSpc>
            </a:pPr>
            <a:endParaRPr lang="zh-CN" dirty="0" smtClean="0">
              <a:solidFill>
                <a:srgbClr val="92D050"/>
              </a:solidFill>
              <a:cs typeface="Times New Roman" panose="02020603050405020304" charset="0"/>
            </a:endParaRPr>
          </a:p>
          <a:p>
            <a:pPr indent="457200" fontAlgn="auto">
              <a:lnSpc>
                <a:spcPct val="120000"/>
              </a:lnSpc>
            </a:pPr>
            <a:r>
              <a:rPr dirty="0" smtClean="0">
                <a:solidFill>
                  <a:schemeClr val="tx1">
                    <a:lumMod val="75000"/>
                    <a:lumOff val="25000"/>
                  </a:schemeClr>
                </a:solidFill>
                <a:cs typeface="Times New Roman" panose="02020603050405020304" charset="0"/>
              </a:rPr>
              <a:t>因此，本文提出了一种反事实增强校准网络（FACTUAL），设计了一种新的校准网络来校准llm立场预测中的潜在偏差。为解决有效学习偏差表示的挑战和去偏差泛化的困难，构建了反事实增强数据。该方法增强了标定网络，有利于去偏和域外泛化。在目标内和零样本立场检测任务上的实验结果表明，所提出的FACTUAL可以有效缓解llm的偏差，取得了最先进的结果。</a:t>
            </a:r>
            <a:endParaRPr dirty="0" smtClean="0">
              <a:solidFill>
                <a:schemeClr val="tx1">
                  <a:lumMod val="75000"/>
                  <a:lumOff val="25000"/>
                </a:schemeClr>
              </a:solidFill>
              <a:cs typeface="Times New Roman" panose="02020603050405020304" charset="0"/>
            </a:endParaRPr>
          </a:p>
          <a:p>
            <a:pPr indent="457200" fontAlgn="auto">
              <a:lnSpc>
                <a:spcPct val="120000"/>
              </a:lnSpc>
            </a:pPr>
            <a:r>
              <a:rPr lang="zh-CN" dirty="0" smtClean="0">
                <a:solidFill>
                  <a:srgbClr val="92D050"/>
                </a:solidFill>
                <a:cs typeface="Times New Roman" panose="02020603050405020304" charset="0"/>
              </a:rPr>
              <a:t>（具体方法：</a:t>
            </a:r>
            <a:r>
              <a:rPr lang="en-US" altLang="zh-CN" dirty="0" smtClean="0">
                <a:solidFill>
                  <a:srgbClr val="92D050"/>
                </a:solidFill>
                <a:cs typeface="Times New Roman" panose="02020603050405020304" charset="0"/>
              </a:rPr>
              <a:t>FACTUAL</a:t>
            </a:r>
            <a:r>
              <a:rPr lang="zh-CN" dirty="0" smtClean="0">
                <a:solidFill>
                  <a:srgbClr val="92D050"/>
                </a:solidFill>
                <a:cs typeface="Times New Roman" panose="02020603050405020304" charset="0"/>
              </a:rPr>
              <a:t>）</a:t>
            </a:r>
            <a:endParaRPr lang="zh-CN" dirty="0" smtClean="0">
              <a:solidFill>
                <a:srgbClr val="92D050"/>
              </a:solidFill>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7868285" cy="829945"/>
          </a:xfrm>
          <a:prstGeom prst="rect">
            <a:avLst/>
          </a:prstGeom>
          <a:noFill/>
        </p:spPr>
        <p:txBody>
          <a:bodyPr wrap="square" rtlCol="0" anchor="ctr">
            <a:spAutoFit/>
          </a:bodyPr>
          <a:p>
            <a:pPr algn="l">
              <a:lnSpc>
                <a:spcPct val="120000"/>
              </a:lnSpc>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2</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Introduction&amp;Related work</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3" name="文本框 2"/>
          <p:cNvSpPr txBox="1"/>
          <p:nvPr/>
        </p:nvSpPr>
        <p:spPr>
          <a:xfrm>
            <a:off x="685165" y="1923415"/>
            <a:ext cx="5080000" cy="3784600"/>
          </a:xfrm>
          <a:prstGeom prst="rect">
            <a:avLst/>
          </a:prstGeom>
        </p:spPr>
        <p:txBody>
          <a:bodyPr>
            <a:spAutoFit/>
          </a:bodyPr>
          <a:p>
            <a:pPr indent="0" algn="l" defTabSz="266700" fontAlgn="auto">
              <a:lnSpc>
                <a:spcPct val="150000"/>
              </a:lnSpc>
              <a:spcBef>
                <a:spcPct val="0"/>
              </a:spcBef>
              <a:spcAft>
                <a:spcPct val="0"/>
              </a:spcAft>
            </a:pPr>
            <a:r>
              <a:rPr lang="zh-CN" altLang="en-US" sz="1600" spc="100">
                <a:solidFill>
                  <a:srgbClr val="000000"/>
                </a:solidFill>
                <a:uFillTx/>
                <a:latin typeface="NimbusRomNo9L-Regu" charset="0"/>
                <a:ea typeface="NimbusRomNo9L-Regu"/>
              </a:rPr>
              <a:t>实验结果表明，语言模型在立场检测中受到两种偏见模式的影响：</a:t>
            </a:r>
            <a:endParaRPr lang="zh-CN" altLang="en-US" sz="1600" spc="100">
              <a:solidFill>
                <a:srgbClr val="000000"/>
              </a:solidFill>
              <a:uFillTx/>
              <a:latin typeface="NimbusRomNo9L-Regu" charset="0"/>
              <a:ea typeface="NimbusRomNo9L-Regu"/>
            </a:endParaRPr>
          </a:p>
          <a:p>
            <a:pPr indent="0" algn="l" defTabSz="266700" fontAlgn="auto">
              <a:lnSpc>
                <a:spcPct val="150000"/>
              </a:lnSpc>
              <a:spcBef>
                <a:spcPct val="0"/>
              </a:spcBef>
              <a:spcAft>
                <a:spcPct val="0"/>
              </a:spcAft>
            </a:pPr>
            <a:r>
              <a:rPr lang="en-US" altLang="zh-CN" sz="1600" spc="100">
                <a:solidFill>
                  <a:srgbClr val="000000"/>
                </a:solidFill>
                <a:uFillTx/>
                <a:latin typeface="NimbusRomNo9L-Regu" charset="0"/>
                <a:ea typeface="NimbusRomNo9L-Regu"/>
              </a:rPr>
              <a:t>1)</a:t>
            </a:r>
            <a:r>
              <a:rPr lang="zh-CN" altLang="en-US" sz="1600" spc="100">
                <a:solidFill>
                  <a:srgbClr val="000000"/>
                </a:solidFill>
                <a:highlight>
                  <a:srgbClr val="FFFF00"/>
                </a:highlight>
                <a:uFillTx/>
                <a:latin typeface="NimbusRomNo9L-Regu" charset="0"/>
                <a:ea typeface="NimbusRomNo9L-Regu"/>
              </a:rPr>
              <a:t>情感</a:t>
            </a:r>
            <a:r>
              <a:rPr lang="en-US" altLang="zh-CN" sz="1600" spc="100">
                <a:solidFill>
                  <a:srgbClr val="000000"/>
                </a:solidFill>
                <a:highlight>
                  <a:srgbClr val="FFFF00"/>
                </a:highlight>
                <a:uFillTx/>
                <a:latin typeface="NimbusRomNo9L-Regu" charset="0"/>
                <a:ea typeface="NimbusRomNo9L-Regu"/>
              </a:rPr>
              <a:t>-</a:t>
            </a:r>
            <a:r>
              <a:rPr lang="zh-CN" altLang="en-US" sz="1600" spc="100">
                <a:solidFill>
                  <a:srgbClr val="000000"/>
                </a:solidFill>
                <a:highlight>
                  <a:srgbClr val="FFFF00"/>
                </a:highlight>
                <a:uFillTx/>
                <a:latin typeface="NimbusRomNo9L-Regu" charset="0"/>
                <a:ea typeface="NimbusRomNo9L-Regu"/>
              </a:rPr>
              <a:t>立场虚假关联（ sentiment-stance spurious correlations）</a:t>
            </a:r>
            <a:r>
              <a:rPr lang="zh-CN" altLang="en-US" sz="1600" spc="100">
                <a:solidFill>
                  <a:srgbClr val="000000"/>
                </a:solidFill>
                <a:uFillTx/>
                <a:latin typeface="NimbusRomNo9L-Regu" charset="0"/>
                <a:ea typeface="NimbusRomNo9L-Regu"/>
              </a:rPr>
              <a:t>，即句子中表达的情感误导了对特定目标的立场判断；</a:t>
            </a:r>
            <a:endParaRPr lang="zh-CN" altLang="en-US" sz="1600" spc="100">
              <a:solidFill>
                <a:srgbClr val="000000"/>
              </a:solidFill>
              <a:uFillTx/>
              <a:latin typeface="NimbusRomNo9L-Regu" charset="0"/>
              <a:ea typeface="NimbusRomNo9L-Regu"/>
            </a:endParaRPr>
          </a:p>
          <a:p>
            <a:pPr indent="0" algn="l" defTabSz="266700" fontAlgn="auto">
              <a:lnSpc>
                <a:spcPct val="150000"/>
              </a:lnSpc>
              <a:spcBef>
                <a:spcPct val="0"/>
              </a:spcBef>
              <a:spcAft>
                <a:spcPct val="0"/>
              </a:spcAft>
            </a:pPr>
            <a:r>
              <a:rPr lang="en-US" altLang="zh-CN" sz="1600" spc="100">
                <a:solidFill>
                  <a:srgbClr val="000000"/>
                </a:solidFill>
                <a:uFillTx/>
                <a:latin typeface="NimbusRomNo9L-Regu" charset="0"/>
                <a:ea typeface="NimbusRomNo9L-Regu"/>
              </a:rPr>
              <a:t>2)</a:t>
            </a:r>
            <a:r>
              <a:rPr lang="zh-CN" altLang="en-US" sz="1600" spc="100">
                <a:solidFill>
                  <a:srgbClr val="000000"/>
                </a:solidFill>
                <a:highlight>
                  <a:srgbClr val="FFFF00"/>
                </a:highlight>
                <a:uFillTx/>
                <a:latin typeface="NimbusRomNo9L-Regu" charset="0"/>
                <a:ea typeface="NimbusRomNo9L-Regu"/>
              </a:rPr>
              <a:t>目标偏好偏见（ target preference bias）</a:t>
            </a:r>
            <a:r>
              <a:rPr lang="zh-CN" altLang="en-US" sz="1600" spc="100">
                <a:solidFill>
                  <a:srgbClr val="000000"/>
                </a:solidFill>
                <a:uFillTx/>
                <a:latin typeface="NimbusRomNo9L-Regu" charset="0"/>
                <a:ea typeface="NimbusRomNo9L-Regu"/>
              </a:rPr>
              <a:t>，即语言模型对特定个人或话题表现出一定的立场偏见。</a:t>
            </a:r>
            <a:endParaRPr lang="zh-CN" altLang="en-US" sz="1600" spc="100">
              <a:solidFill>
                <a:srgbClr val="000000"/>
              </a:solidFill>
              <a:uFillTx/>
              <a:latin typeface="NimbusRomNo9L-Regu" charset="0"/>
              <a:ea typeface="NimbusRomNo9L-Regu"/>
            </a:endParaRPr>
          </a:p>
          <a:p>
            <a:pPr indent="0" algn="l" defTabSz="266700" fontAlgn="auto">
              <a:lnSpc>
                <a:spcPct val="150000"/>
              </a:lnSpc>
              <a:spcBef>
                <a:spcPct val="0"/>
              </a:spcBef>
              <a:spcAft>
                <a:spcPct val="0"/>
              </a:spcAft>
            </a:pPr>
            <a:endParaRPr lang="zh-CN" altLang="en-US" sz="1600" spc="100">
              <a:solidFill>
                <a:srgbClr val="000000"/>
              </a:solidFill>
              <a:uFillTx/>
              <a:latin typeface="NimbusRomNo9L-Regu" charset="0"/>
              <a:ea typeface="NimbusRomNo9L-Regu"/>
            </a:endParaRPr>
          </a:p>
          <a:p>
            <a:pPr indent="0" algn="l" defTabSz="266700" fontAlgn="auto">
              <a:lnSpc>
                <a:spcPct val="150000"/>
              </a:lnSpc>
              <a:spcBef>
                <a:spcPct val="0"/>
              </a:spcBef>
              <a:spcAft>
                <a:spcPct val="0"/>
              </a:spcAft>
            </a:pPr>
            <a:r>
              <a:rPr lang="zh-CN" altLang="en-US" sz="1600" spc="100">
                <a:solidFill>
                  <a:srgbClr val="000000"/>
                </a:solidFill>
                <a:uFillTx/>
                <a:latin typeface="NimbusRomNo9L-Regu" charset="0"/>
                <a:ea typeface="NimbusRomNo9L-Regu"/>
              </a:rPr>
              <a:t>该图说明了两种偏见的例子，以及无偏的立场理由。</a:t>
            </a:r>
            <a:endParaRPr lang="zh-CN" altLang="en-US" sz="1600" spc="100">
              <a:solidFill>
                <a:srgbClr val="000000"/>
              </a:solidFill>
              <a:uFillTx/>
              <a:latin typeface="NimbusRomNo9L-Regu" charset="0"/>
              <a:ea typeface="NimbusRomNo9L-Regu"/>
            </a:endParaRPr>
          </a:p>
        </p:txBody>
      </p:sp>
      <p:pic>
        <p:nvPicPr>
          <p:cNvPr id="7" name="图片 6"/>
          <p:cNvPicPr>
            <a:picLocks noChangeAspect="1"/>
          </p:cNvPicPr>
          <p:nvPr/>
        </p:nvPicPr>
        <p:blipFill>
          <a:blip r:embed="rId1"/>
          <a:stretch>
            <a:fillRect/>
          </a:stretch>
        </p:blipFill>
        <p:spPr>
          <a:xfrm>
            <a:off x="6438900" y="2853690"/>
            <a:ext cx="5421630" cy="3082925"/>
          </a:xfrm>
          <a:prstGeom prst="rect">
            <a:avLst/>
          </a:prstGeom>
        </p:spPr>
      </p:pic>
      <p:sp>
        <p:nvSpPr>
          <p:cNvPr id="2" name="右箭头 1"/>
          <p:cNvSpPr/>
          <p:nvPr/>
        </p:nvSpPr>
        <p:spPr>
          <a:xfrm>
            <a:off x="5792470" y="5424805"/>
            <a:ext cx="486410" cy="7556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7868285" cy="829945"/>
          </a:xfrm>
          <a:prstGeom prst="rect">
            <a:avLst/>
          </a:prstGeom>
          <a:noFill/>
        </p:spPr>
        <p:txBody>
          <a:bodyPr wrap="square" rtlCol="0" anchor="ctr">
            <a:spAutoFit/>
          </a:bodyPr>
          <a:p>
            <a:pPr algn="l">
              <a:lnSpc>
                <a:spcPct val="120000"/>
              </a:lnSpc>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2</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Introduction&amp;Related work</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3" name="文本框 2"/>
          <p:cNvSpPr txBox="1"/>
          <p:nvPr/>
        </p:nvSpPr>
        <p:spPr>
          <a:xfrm>
            <a:off x="478790" y="2491105"/>
            <a:ext cx="10201910" cy="3046095"/>
          </a:xfrm>
          <a:prstGeom prst="rect">
            <a:avLst/>
          </a:prstGeom>
        </p:spPr>
        <p:txBody>
          <a:bodyPr wrap="square">
            <a:spAutoFit/>
          </a:bodyPr>
          <a:p>
            <a:pPr marL="0" indent="0" algn="l" defTabSz="266700">
              <a:spcBef>
                <a:spcPct val="0"/>
              </a:spcBef>
              <a:spcAft>
                <a:spcPct val="0"/>
              </a:spcAft>
            </a:pPr>
            <a:r>
              <a:rPr lang="zh-CN" altLang="en-US" sz="1600">
                <a:solidFill>
                  <a:srgbClr val="000000"/>
                </a:solidFill>
                <a:latin typeface="NimbusRomNo9L-Regu"/>
                <a:ea typeface="NimbusRomNo9L-Regu"/>
              </a:rPr>
              <a:t>现有立场检测去偏方法集中在</a:t>
            </a:r>
            <a:r>
              <a:rPr lang="zh-CN" altLang="en-US" sz="1600">
                <a:solidFill>
                  <a:srgbClr val="000000"/>
                </a:solidFill>
                <a:highlight>
                  <a:srgbClr val="FFFF00"/>
                </a:highlight>
                <a:latin typeface="NimbusRomNo9L-Regu"/>
                <a:ea typeface="NimbusRomNo9L-Regu"/>
              </a:rPr>
              <a:t>创建无偏训练样本</a:t>
            </a:r>
            <a:r>
              <a:rPr lang="zh-CN" altLang="en-US" sz="1600">
                <a:solidFill>
                  <a:srgbClr val="000000"/>
                </a:solidFill>
                <a:latin typeface="NimbusRomNo9L-Regu"/>
                <a:ea typeface="NimbusRomNo9L-Regu"/>
              </a:rPr>
              <a:t>和</a:t>
            </a:r>
            <a:r>
              <a:rPr lang="zh-CN" altLang="en-US" sz="1600">
                <a:solidFill>
                  <a:srgbClr val="000000"/>
                </a:solidFill>
                <a:highlight>
                  <a:srgbClr val="FFFF00"/>
                </a:highlight>
                <a:latin typeface="NimbusRomNo9L-Regu"/>
                <a:ea typeface="NimbusRomNo9L-Regu"/>
              </a:rPr>
              <a:t>重新训练立场检测模型</a:t>
            </a:r>
            <a:endParaRPr lang="zh-CN" altLang="en-US" sz="1600">
              <a:solidFill>
                <a:srgbClr val="000000"/>
              </a:solidFill>
              <a:highlight>
                <a:srgbClr val="FFFF00"/>
              </a:highlight>
              <a:latin typeface="NimbusRomNo9L-Regu"/>
              <a:ea typeface="NimbusRomNo9L-Regu"/>
            </a:endParaRPr>
          </a:p>
          <a:p>
            <a:pPr marL="0" indent="0" algn="l" defTabSz="266700">
              <a:spcBef>
                <a:spcPct val="0"/>
              </a:spcBef>
              <a:spcAft>
                <a:spcPct val="0"/>
              </a:spcAft>
            </a:pPr>
            <a:endParaRPr lang="zh-CN" altLang="en-US"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这些去偏方法在llm中的应用存在两个核心限制。</a:t>
            </a:r>
            <a:endParaRPr sz="1600">
              <a:solidFill>
                <a:srgbClr val="000000"/>
              </a:solidFill>
              <a:latin typeface="NimbusRomNo9L-Regu"/>
              <a:ea typeface="NimbusRomNo9L-Regu"/>
            </a:endParaRPr>
          </a:p>
          <a:p>
            <a:pPr marL="0" indent="0" algn="l" defTabSz="266700">
              <a:spcBef>
                <a:spcPct val="0"/>
              </a:spcBef>
              <a:spcAft>
                <a:spcPct val="0"/>
              </a:spcAft>
            </a:pP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限制#1，再训练</a:t>
            </a:r>
            <a:r>
              <a:rPr lang="zh-CN" sz="1600">
                <a:solidFill>
                  <a:srgbClr val="000000"/>
                </a:solidFill>
                <a:latin typeface="NimbusRomNo9L-Regu"/>
                <a:ea typeface="宋体" panose="02010600030101010101" pitchFamily="2" charset="-122"/>
              </a:rPr>
              <a:t>的</a:t>
            </a:r>
            <a:r>
              <a:rPr sz="1600">
                <a:solidFill>
                  <a:srgbClr val="000000"/>
                </a:solidFill>
                <a:latin typeface="NimbusRomNo9L-Regu"/>
                <a:ea typeface="NimbusRomNo9L-Regu"/>
              </a:rPr>
              <a:t>过程将破坏llm的通用性，可能导致</a:t>
            </a:r>
            <a:r>
              <a:rPr sz="1600">
                <a:solidFill>
                  <a:srgbClr val="000000"/>
                </a:solidFill>
                <a:highlight>
                  <a:srgbClr val="FFFF00"/>
                </a:highlight>
                <a:latin typeface="NimbusRomNo9L-Regu"/>
                <a:ea typeface="NimbusRomNo9L-Regu"/>
              </a:rPr>
              <a:t>灾难性的遗忘</a:t>
            </a:r>
            <a:r>
              <a:rPr lang="en-US" sz="1600">
                <a:solidFill>
                  <a:srgbClr val="000000"/>
                </a:solidFill>
                <a:latin typeface="NimbusRomNo9L-Regu"/>
                <a:ea typeface="NimbusRomNo9L-Regu"/>
              </a:rPr>
              <a:t>——</a:t>
            </a:r>
            <a:r>
              <a:rPr sz="1600">
                <a:solidFill>
                  <a:srgbClr val="000000"/>
                </a:solidFill>
                <a:latin typeface="NimbusRomNo9L-Regu"/>
                <a:ea typeface="NimbusRomNo9L-Regu"/>
              </a:rPr>
              <a:t>更不用说某些闭源llm（如GPT-3.5-turbo）的限制，它只能通过受限的推理API访问，阻止了对内部模型参数的访问。</a:t>
            </a:r>
            <a:endParaRPr sz="1600">
              <a:solidFill>
                <a:srgbClr val="000000"/>
              </a:solidFill>
              <a:latin typeface="NimbusRomNo9L-Regu"/>
              <a:ea typeface="NimbusRomNo9L-Regu"/>
            </a:endParaRPr>
          </a:p>
          <a:p>
            <a:pPr marL="0" indent="0" algn="l" defTabSz="266700">
              <a:spcBef>
                <a:spcPct val="0"/>
              </a:spcBef>
              <a:spcAft>
                <a:spcPct val="0"/>
              </a:spcAft>
            </a:pP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限制#2，现有构建无偏训练样本的方法通常需要分析普遍的偏见模式，随后根据这些已识别的模式自动构建，例如用“女性”代替“男性”。然而，在处理立场检测任务时，即将进行的分析表明，</a:t>
            </a:r>
            <a:r>
              <a:rPr sz="1600">
                <a:solidFill>
                  <a:srgbClr val="000000"/>
                </a:solidFill>
                <a:highlight>
                  <a:srgbClr val="FFFF00"/>
                </a:highlight>
                <a:latin typeface="NimbusRomNo9L-Regu"/>
                <a:ea typeface="NimbusRomNo9L-Regu"/>
              </a:rPr>
              <a:t>这些样本表现出不同的偏见倾向，这是由于情绪和立场目标的分歧</a:t>
            </a:r>
            <a:r>
              <a:rPr sz="1600">
                <a:solidFill>
                  <a:srgbClr val="000000"/>
                </a:solidFill>
                <a:latin typeface="NimbusRomNo9L-Regu"/>
                <a:ea typeface="NimbusRomNo9L-Regu"/>
              </a:rPr>
              <a:t>。</a:t>
            </a:r>
            <a:endParaRPr sz="1600">
              <a:solidFill>
                <a:srgbClr val="000000"/>
              </a:solidFill>
              <a:latin typeface="NimbusRomNo9L-Regu"/>
              <a:ea typeface="NimbusRomNo9L-Regu"/>
            </a:endParaRPr>
          </a:p>
          <a:p>
            <a:pPr marL="0" indent="0" algn="l" defTabSz="266700">
              <a:spcBef>
                <a:spcPct val="0"/>
              </a:spcBef>
              <a:spcAft>
                <a:spcPct val="0"/>
              </a:spcAft>
            </a:pP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因此，利用传统方法来创建无偏样本提出了一个重大挑战。</a:t>
            </a:r>
            <a:endParaRPr sz="1600">
              <a:solidFill>
                <a:srgbClr val="000000"/>
              </a:solidFill>
              <a:latin typeface="NimbusRomNo9L-Regu"/>
              <a:ea typeface="NimbusRomNo9L-Regu"/>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7868285" cy="829945"/>
          </a:xfrm>
          <a:prstGeom prst="rect">
            <a:avLst/>
          </a:prstGeom>
          <a:noFill/>
        </p:spPr>
        <p:txBody>
          <a:bodyPr wrap="square" rtlCol="0" anchor="ctr">
            <a:spAutoFit/>
          </a:bodyPr>
          <a:p>
            <a:pPr algn="l">
              <a:lnSpc>
                <a:spcPct val="120000"/>
              </a:lnSpc>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2</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Introduction&amp;Related work</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3" name="文本框 2"/>
          <p:cNvSpPr txBox="1"/>
          <p:nvPr/>
        </p:nvSpPr>
        <p:spPr>
          <a:xfrm>
            <a:off x="1032510" y="2205355"/>
            <a:ext cx="9041765" cy="4030980"/>
          </a:xfrm>
          <a:prstGeom prst="rect">
            <a:avLst/>
          </a:prstGeom>
        </p:spPr>
        <p:txBody>
          <a:bodyPr wrap="square">
            <a:spAutoFit/>
          </a:bodyPr>
          <a:p>
            <a:pPr marL="0" indent="0" algn="l" defTabSz="266700">
              <a:spcBef>
                <a:spcPct val="0"/>
              </a:spcBef>
              <a:spcAft>
                <a:spcPct val="0"/>
              </a:spcAft>
            </a:pPr>
            <a:r>
              <a:rPr sz="1600">
                <a:solidFill>
                  <a:srgbClr val="000000"/>
                </a:solidFill>
                <a:latin typeface="NimbusRomNo9L-Regu"/>
                <a:ea typeface="NimbusRomNo9L-Regu"/>
              </a:rPr>
              <a:t>因此，为解决上述两个限制，本文建议用反事实增强校准网络来减轻llm在立场检测中的偏差，称为FACTUAL。</a:t>
            </a:r>
            <a:endParaRPr sz="1600">
              <a:solidFill>
                <a:srgbClr val="000000"/>
              </a:solidFill>
              <a:latin typeface="NimbusRomNo9L-Regu"/>
              <a:ea typeface="NimbusRomNo9L-Regu"/>
            </a:endParaRPr>
          </a:p>
          <a:p>
            <a:pPr marL="0" indent="0" algn="l" defTabSz="266700">
              <a:spcBef>
                <a:spcPct val="0"/>
              </a:spcBef>
              <a:spcAft>
                <a:spcPct val="0"/>
              </a:spcAft>
            </a:pP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建立了一个可训练的校准网络，以近似llm中偏置标签分布的逆投影函数。</a:t>
            </a: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这个校准网络接收样本，以及来自llm的立场判断和理由，并生成校准的立场判断。</a:t>
            </a:r>
            <a:endParaRPr sz="1600">
              <a:solidFill>
                <a:srgbClr val="000000"/>
              </a:solidFill>
              <a:latin typeface="NimbusRomNo9L-Regu"/>
              <a:ea typeface="NimbusRomNo9L-Regu"/>
            </a:endParaRPr>
          </a:p>
          <a:p>
            <a:pPr marL="0" indent="0" algn="l" defTabSz="266700">
              <a:spcBef>
                <a:spcPct val="0"/>
              </a:spcBef>
              <a:spcAft>
                <a:spcPct val="0"/>
              </a:spcAft>
            </a:pP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在训练数据上构建反事实增强数据，以纠正立场偏见。从因果特征和非因果特征中构建反事实样本，以增强校准网络以产生无偏立场并完成域外泛化。通过反事实增强监督训练，校准网络可以捕获特定样本中存在的偏差，从而进行去偏。</a:t>
            </a:r>
            <a:endParaRPr sz="1600">
              <a:solidFill>
                <a:srgbClr val="000000"/>
              </a:solidFill>
              <a:latin typeface="NimbusRomNo9L-Regu"/>
              <a:ea typeface="NimbusRomNo9L-Regu"/>
            </a:endParaRPr>
          </a:p>
          <a:p>
            <a:pPr marL="0" indent="0" algn="l" defTabSz="266700">
              <a:spcBef>
                <a:spcPct val="0"/>
              </a:spcBef>
              <a:spcAft>
                <a:spcPct val="0"/>
              </a:spcAft>
            </a:pP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我们的工作主要贡献如下：</a:t>
            </a: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1)首次研究了llm在立场检测上的偏见，从因果关系的角度将偏见分为两种主要类型，并提出了量化这两种偏见的指标。</a:t>
            </a: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2)提出FACTUAL，一种称为反事实增强校准网络的新框架，以减轻llm在立场检测上的偏差。</a:t>
            </a:r>
            <a:endParaRPr sz="1600">
              <a:solidFill>
                <a:srgbClr val="000000"/>
              </a:solidFill>
              <a:latin typeface="NimbusRomNo9L-Regu"/>
              <a:ea typeface="NimbusRomNo9L-Regu"/>
            </a:endParaRPr>
          </a:p>
          <a:p>
            <a:pPr marL="0" indent="0" algn="l" defTabSz="266700">
              <a:spcBef>
                <a:spcPct val="0"/>
              </a:spcBef>
              <a:spcAft>
                <a:spcPct val="0"/>
              </a:spcAft>
            </a:pPr>
            <a:r>
              <a:rPr sz="1600">
                <a:solidFill>
                  <a:srgbClr val="000000"/>
                </a:solidFill>
                <a:latin typeface="NimbusRomNo9L-Regu"/>
                <a:ea typeface="NimbusRomNo9L-Regu"/>
              </a:rPr>
              <a:t>3)一系列实验表明，文中方法能够有效降低llm在立场检测中的偏差，提高目标内和零样本立场检测任务的性能。</a:t>
            </a:r>
            <a:endParaRPr sz="1600">
              <a:solidFill>
                <a:srgbClr val="000000"/>
              </a:solidFill>
              <a:latin typeface="NimbusRomNo9L-Regu"/>
              <a:ea typeface="NimbusRomNo9L-Regu"/>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Biases of LLMs in Stance Detection </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666750" y="1906270"/>
            <a:ext cx="4913630" cy="1522730"/>
          </a:xfrm>
          <a:prstGeom prst="rect">
            <a:avLst/>
          </a:prstGeom>
        </p:spPr>
      </p:pic>
      <p:graphicFrame>
        <p:nvGraphicFramePr>
          <p:cNvPr id="3" name="表格 2"/>
          <p:cNvGraphicFramePr/>
          <p:nvPr>
            <p:custDataLst>
              <p:tags r:id="rId2"/>
            </p:custDataLst>
          </p:nvPr>
        </p:nvGraphicFramePr>
        <p:xfrm>
          <a:off x="6325235" y="2071370"/>
          <a:ext cx="3303270" cy="1192530"/>
        </p:xfrm>
        <a:graphic>
          <a:graphicData uri="http://schemas.openxmlformats.org/drawingml/2006/table">
            <a:tbl>
              <a:tblPr/>
              <a:tblGrid>
                <a:gridCol w="693420"/>
                <a:gridCol w="2609850"/>
              </a:tblGrid>
              <a:tr h="39751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K</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2000" b="0" i="0">
                          <a:solidFill>
                            <a:srgbClr val="000000"/>
                          </a:solidFill>
                          <a:latin typeface="宋体" panose="02010600030101010101" pitchFamily="2" charset="-122"/>
                          <a:ea typeface="宋体" panose="02010600030101010101" pitchFamily="2" charset="-122"/>
                        </a:rPr>
                        <a:t>立场类别数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39751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TPi</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i</a:t>
                      </a:r>
                      <a:r>
                        <a:rPr lang="zh-CN" altLang="en-US" sz="2000" b="0" i="0">
                          <a:solidFill>
                            <a:srgbClr val="000000"/>
                          </a:solidFill>
                          <a:latin typeface="宋体" panose="02010600030101010101" pitchFamily="2" charset="-122"/>
                          <a:ea typeface="宋体" panose="02010600030101010101" pitchFamily="2" charset="-122"/>
                        </a:rPr>
                        <a:t>类类别的支持数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39751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Pi</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i</a:t>
                      </a:r>
                      <a:r>
                        <a:rPr lang="zh-CN" altLang="en-US" sz="2000" b="0" i="0">
                          <a:solidFill>
                            <a:srgbClr val="000000"/>
                          </a:solidFill>
                          <a:latin typeface="宋体" panose="02010600030101010101" pitchFamily="2" charset="-122"/>
                          <a:ea typeface="宋体" panose="02010600030101010101" pitchFamily="2" charset="-122"/>
                        </a:rPr>
                        <a:t>类类别的总数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pic>
        <p:nvPicPr>
          <p:cNvPr id="6" name="图片 5"/>
          <p:cNvPicPr>
            <a:picLocks noChangeAspect="1"/>
          </p:cNvPicPr>
          <p:nvPr/>
        </p:nvPicPr>
        <p:blipFill>
          <a:blip r:embed="rId3"/>
          <a:stretch>
            <a:fillRect/>
          </a:stretch>
        </p:blipFill>
        <p:spPr>
          <a:xfrm>
            <a:off x="666750" y="3713480"/>
            <a:ext cx="4135755" cy="988060"/>
          </a:xfrm>
          <a:prstGeom prst="rect">
            <a:avLst/>
          </a:prstGeom>
        </p:spPr>
      </p:pic>
      <p:graphicFrame>
        <p:nvGraphicFramePr>
          <p:cNvPr id="7" name="表格 6"/>
          <p:cNvGraphicFramePr/>
          <p:nvPr>
            <p:custDataLst>
              <p:tags r:id="rId4"/>
            </p:custDataLst>
          </p:nvPr>
        </p:nvGraphicFramePr>
        <p:xfrm>
          <a:off x="6325235" y="3690620"/>
          <a:ext cx="2887345" cy="981710"/>
        </p:xfrm>
        <a:graphic>
          <a:graphicData uri="http://schemas.openxmlformats.org/drawingml/2006/table">
            <a:tbl>
              <a:tblPr/>
              <a:tblGrid>
                <a:gridCol w="505460"/>
                <a:gridCol w="2381885"/>
              </a:tblGrid>
              <a:tr h="490855">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Xs</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2000" b="0" i="0">
                          <a:solidFill>
                            <a:srgbClr val="000000"/>
                          </a:solidFill>
                          <a:latin typeface="宋体" panose="02010600030101010101" pitchFamily="2" charset="-122"/>
                          <a:ea typeface="宋体" panose="02010600030101010101" pitchFamily="2" charset="-122"/>
                        </a:rPr>
                        <a:t>情感标签为</a:t>
                      </a:r>
                      <a:r>
                        <a:rPr lang="en-US" altLang="zh-CN" sz="2000" b="0" i="0">
                          <a:solidFill>
                            <a:srgbClr val="000000"/>
                          </a:solidFill>
                          <a:latin typeface="宋体" panose="02010600030101010101" pitchFamily="2" charset="-122"/>
                          <a:ea typeface="宋体" panose="02010600030101010101" pitchFamily="2" charset="-122"/>
                        </a:rPr>
                        <a:t>s</a:t>
                      </a:r>
                      <a:r>
                        <a:rPr lang="zh-CN" altLang="en-US" sz="2000" b="0" i="0">
                          <a:solidFill>
                            <a:srgbClr val="000000"/>
                          </a:solidFill>
                          <a:latin typeface="宋体" panose="02010600030101010101" pitchFamily="2" charset="-122"/>
                          <a:ea typeface="宋体" panose="02010600030101010101" pitchFamily="2" charset="-122"/>
                        </a:rPr>
                        <a:t>的实例</a:t>
                      </a:r>
                      <a:r>
                        <a:rPr lang="en-US" altLang="zh-CN" sz="2000" b="0" i="0">
                          <a:solidFill>
                            <a:srgbClr val="000000"/>
                          </a:solidFill>
                          <a:latin typeface="宋体" panose="02010600030101010101" pitchFamily="2" charset="-122"/>
                          <a:ea typeface="宋体" panose="02010600030101010101" pitchFamily="2" charset="-122"/>
                        </a:rPr>
                        <a:t>X</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490855">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|S|</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2000" b="0" i="0">
                          <a:solidFill>
                            <a:srgbClr val="000000"/>
                          </a:solidFill>
                          <a:latin typeface="宋体" panose="02010600030101010101" pitchFamily="2" charset="-122"/>
                          <a:ea typeface="宋体" panose="02010600030101010101" pitchFamily="2" charset="-122"/>
                        </a:rPr>
                        <a:t>情感标签类别数（</a:t>
                      </a:r>
                      <a:r>
                        <a:rPr lang="en-US" altLang="zh-CN" sz="2000" b="0" i="0">
                          <a:solidFill>
                            <a:srgbClr val="000000"/>
                          </a:solidFill>
                          <a:latin typeface="宋体" panose="02010600030101010101" pitchFamily="2" charset="-122"/>
                          <a:ea typeface="宋体" panose="02010600030101010101" pitchFamily="2" charset="-122"/>
                        </a:rPr>
                        <a:t>3</a:t>
                      </a:r>
                      <a:r>
                        <a:rPr lang="zh-CN" altLang="en-US" sz="2000" b="0" i="0">
                          <a:solidFill>
                            <a:srgbClr val="000000"/>
                          </a:solidFill>
                          <a:latin typeface="宋体" panose="02010600030101010101" pitchFamily="2" charset="-122"/>
                          <a:ea typeface="宋体" panose="02010600030101010101" pitchFamily="2" charset="-122"/>
                        </a:rPr>
                        <a:t>）</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pic>
        <p:nvPicPr>
          <p:cNvPr id="8" name="图片 7"/>
          <p:cNvPicPr>
            <a:picLocks noChangeAspect="1"/>
          </p:cNvPicPr>
          <p:nvPr/>
        </p:nvPicPr>
        <p:blipFill>
          <a:blip r:embed="rId5"/>
          <a:stretch>
            <a:fillRect/>
          </a:stretch>
        </p:blipFill>
        <p:spPr>
          <a:xfrm>
            <a:off x="666750" y="4986020"/>
            <a:ext cx="3973830" cy="995680"/>
          </a:xfrm>
          <a:prstGeom prst="rect">
            <a:avLst/>
          </a:prstGeom>
        </p:spPr>
      </p:pic>
      <p:graphicFrame>
        <p:nvGraphicFramePr>
          <p:cNvPr id="9" name="表格 8"/>
          <p:cNvGraphicFramePr/>
          <p:nvPr>
            <p:custDataLst>
              <p:tags r:id="rId6"/>
            </p:custDataLst>
          </p:nvPr>
        </p:nvGraphicFramePr>
        <p:xfrm>
          <a:off x="6325235" y="5162550"/>
          <a:ext cx="3140710" cy="643255"/>
        </p:xfrm>
        <a:graphic>
          <a:graphicData uri="http://schemas.openxmlformats.org/drawingml/2006/table">
            <a:tbl>
              <a:tblPr/>
              <a:tblGrid>
                <a:gridCol w="694690"/>
                <a:gridCol w="2446020"/>
              </a:tblGrid>
              <a:tr h="330835">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Xt</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2000" b="0" i="0">
                          <a:solidFill>
                            <a:srgbClr val="000000"/>
                          </a:solidFill>
                          <a:latin typeface="宋体" panose="02010600030101010101" pitchFamily="2" charset="-122"/>
                          <a:ea typeface="宋体" panose="02010600030101010101" pitchFamily="2" charset="-122"/>
                        </a:rPr>
                        <a:t>目标为</a:t>
                      </a:r>
                      <a:r>
                        <a:rPr lang="en-US" altLang="zh-CN" sz="2000" b="0" i="0">
                          <a:solidFill>
                            <a:srgbClr val="000000"/>
                          </a:solidFill>
                          <a:latin typeface="宋体" panose="02010600030101010101" pitchFamily="2" charset="-122"/>
                          <a:ea typeface="宋体" panose="02010600030101010101" pitchFamily="2" charset="-122"/>
                        </a:rPr>
                        <a:t>t</a:t>
                      </a:r>
                      <a:r>
                        <a:rPr lang="zh-CN" altLang="en-US" sz="2000" b="0" i="0">
                          <a:solidFill>
                            <a:srgbClr val="000000"/>
                          </a:solidFill>
                          <a:latin typeface="宋体" panose="02010600030101010101" pitchFamily="2" charset="-122"/>
                          <a:ea typeface="宋体" panose="02010600030101010101" pitchFamily="2" charset="-122"/>
                        </a:rPr>
                        <a:t>的实例</a:t>
                      </a:r>
                      <a:r>
                        <a:rPr lang="en-US" altLang="zh-CN" sz="2000" b="0" i="0">
                          <a:solidFill>
                            <a:srgbClr val="000000"/>
                          </a:solidFill>
                          <a:latin typeface="宋体" panose="02010600030101010101" pitchFamily="2" charset="-122"/>
                          <a:ea typeface="宋体" panose="02010600030101010101" pitchFamily="2" charset="-122"/>
                        </a:rPr>
                        <a:t>X</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31242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|T|</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2000" b="0" i="0">
                          <a:solidFill>
                            <a:srgbClr val="000000"/>
                          </a:solidFill>
                          <a:latin typeface="宋体" panose="02010600030101010101" pitchFamily="2" charset="-122"/>
                          <a:ea typeface="宋体" panose="02010600030101010101" pitchFamily="2" charset="-122"/>
                        </a:rPr>
                        <a:t>目标数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Biases of LLMs in Stance Detection </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666750" y="1906270"/>
            <a:ext cx="4913630" cy="1522730"/>
          </a:xfrm>
          <a:prstGeom prst="rect">
            <a:avLst/>
          </a:prstGeom>
        </p:spPr>
      </p:pic>
      <p:graphicFrame>
        <p:nvGraphicFramePr>
          <p:cNvPr id="3" name="表格 2"/>
          <p:cNvGraphicFramePr/>
          <p:nvPr>
            <p:custDataLst>
              <p:tags r:id="rId2"/>
            </p:custDataLst>
          </p:nvPr>
        </p:nvGraphicFramePr>
        <p:xfrm>
          <a:off x="6325235" y="2071370"/>
          <a:ext cx="3303270" cy="1192530"/>
        </p:xfrm>
        <a:graphic>
          <a:graphicData uri="http://schemas.openxmlformats.org/drawingml/2006/table">
            <a:tbl>
              <a:tblPr/>
              <a:tblGrid>
                <a:gridCol w="693420"/>
                <a:gridCol w="2609850"/>
              </a:tblGrid>
              <a:tr h="39751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K</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2000" b="0" i="0">
                          <a:solidFill>
                            <a:srgbClr val="000000"/>
                          </a:solidFill>
                          <a:latin typeface="宋体" panose="02010600030101010101" pitchFamily="2" charset="-122"/>
                          <a:ea typeface="宋体" panose="02010600030101010101" pitchFamily="2" charset="-122"/>
                        </a:rPr>
                        <a:t>立场类别数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39751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TPi</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i</a:t>
                      </a:r>
                      <a:r>
                        <a:rPr lang="zh-CN" altLang="en-US" sz="2000" b="0" i="0">
                          <a:solidFill>
                            <a:srgbClr val="000000"/>
                          </a:solidFill>
                          <a:latin typeface="宋体" panose="02010600030101010101" pitchFamily="2" charset="-122"/>
                          <a:ea typeface="宋体" panose="02010600030101010101" pitchFamily="2" charset="-122"/>
                        </a:rPr>
                        <a:t>类类别的支持数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397510">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Pi</a:t>
                      </a:r>
                      <a:endParaRPr lang="en-US" altLang="zh-CN"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en-US" altLang="zh-CN" sz="2000" b="0" i="0">
                          <a:solidFill>
                            <a:srgbClr val="000000"/>
                          </a:solidFill>
                          <a:latin typeface="宋体" panose="02010600030101010101" pitchFamily="2" charset="-122"/>
                          <a:ea typeface="宋体" panose="02010600030101010101" pitchFamily="2" charset="-122"/>
                        </a:rPr>
                        <a:t>i</a:t>
                      </a:r>
                      <a:r>
                        <a:rPr lang="zh-CN" altLang="en-US" sz="2000" b="0" i="0">
                          <a:solidFill>
                            <a:srgbClr val="000000"/>
                          </a:solidFill>
                          <a:latin typeface="宋体" panose="02010600030101010101" pitchFamily="2" charset="-122"/>
                          <a:ea typeface="宋体" panose="02010600030101010101" pitchFamily="2" charset="-122"/>
                        </a:rPr>
                        <a:t>类类别的总数</a:t>
                      </a:r>
                      <a:endParaRPr lang="zh-CN" altLang="en-US" sz="20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
        <p:nvSpPr>
          <p:cNvPr id="4" name="文本框 3"/>
          <p:cNvSpPr txBox="1"/>
          <p:nvPr/>
        </p:nvSpPr>
        <p:spPr>
          <a:xfrm>
            <a:off x="1091565" y="4110990"/>
            <a:ext cx="7914640" cy="1414780"/>
          </a:xfrm>
          <a:prstGeom prst="rect">
            <a:avLst/>
          </a:prstGeom>
        </p:spPr>
        <p:txBody>
          <a:bodyPr>
            <a:noAutofit/>
          </a:bodyPr>
          <a:p>
            <a:pPr marL="0" indent="0" algn="just" defTabSz="266700">
              <a:spcBef>
                <a:spcPct val="0"/>
              </a:spcBef>
              <a:spcAft>
                <a:spcPct val="0"/>
              </a:spcAft>
            </a:pPr>
            <a:r>
              <a:rPr lang="zh-CN" altLang="en-US" sz="1600">
                <a:solidFill>
                  <a:srgbClr val="000000"/>
                </a:solidFill>
                <a:latin typeface="NimbusRomNo9L-Regu"/>
                <a:ea typeface="NimbusRomNo9L-Regu"/>
              </a:rPr>
              <a:t>立场偏见是指由于特定偏见和刻板印象的影响，模型倾向于选择某种立场的系统性错误。</a:t>
            </a:r>
            <a:endParaRPr lang="zh-CN" altLang="en-US" sz="1600">
              <a:solidFill>
                <a:srgbClr val="000000"/>
              </a:solidFill>
              <a:latin typeface="NimbusRomNo9L-Regu"/>
              <a:ea typeface="NimbusRomNo9L-Regu"/>
            </a:endParaRPr>
          </a:p>
          <a:p>
            <a:pPr marL="0" indent="0" algn="just" defTabSz="266700">
              <a:spcBef>
                <a:spcPct val="0"/>
              </a:spcBef>
              <a:spcAft>
                <a:spcPct val="0"/>
              </a:spcAft>
            </a:pPr>
            <a:endParaRPr lang="zh-CN" altLang="en-US" sz="1600">
              <a:solidFill>
                <a:srgbClr val="000000"/>
              </a:solidFill>
              <a:latin typeface="NimbusRomNo9L-Regu"/>
              <a:ea typeface="NimbusRomNo9L-Regu"/>
            </a:endParaRPr>
          </a:p>
          <a:p>
            <a:pPr marL="0" indent="0" algn="just" defTabSz="266700">
              <a:spcBef>
                <a:spcPct val="0"/>
              </a:spcBef>
              <a:spcAft>
                <a:spcPct val="0"/>
              </a:spcAft>
            </a:pPr>
            <a:r>
              <a:rPr lang="zh-CN" altLang="en-US" sz="1600">
                <a:solidFill>
                  <a:srgbClr val="000000"/>
                </a:solidFill>
                <a:latin typeface="NimbusRomNo9L-Regu"/>
                <a:ea typeface="NimbusRomNo9L-Regu"/>
              </a:rPr>
              <a:t>立场标签上召回率的标准差（</a:t>
            </a:r>
            <a:r>
              <a:rPr lang="en-US" altLang="zh-CN" sz="1600">
                <a:solidFill>
                  <a:srgbClr val="000000"/>
                </a:solidFill>
                <a:latin typeface="NimbusRomNo9L-Regu"/>
                <a:ea typeface="NimbusRomNo9L-Regu"/>
              </a:rPr>
              <a:t>RStd</a:t>
            </a:r>
            <a:r>
              <a:rPr lang="zh-CN" altLang="en-US" sz="1600">
                <a:solidFill>
                  <a:srgbClr val="000000"/>
                </a:solidFill>
                <a:latin typeface="NimbusRomNo9L-Regu"/>
                <a:ea typeface="NimbusRomNo9L-Regu"/>
              </a:rPr>
              <a:t>）是定量</a:t>
            </a:r>
            <a:r>
              <a:rPr lang="zh-CN" altLang="en-US" sz="1600">
                <a:solidFill>
                  <a:srgbClr val="000000"/>
                </a:solidFill>
                <a:highlight>
                  <a:srgbClr val="FFFF00"/>
                </a:highlight>
                <a:latin typeface="NimbusRomNo9L-Regu"/>
                <a:ea typeface="NimbusRomNo9L-Regu"/>
              </a:rPr>
              <a:t>测量系统误差</a:t>
            </a:r>
            <a:r>
              <a:rPr lang="zh-CN" altLang="en-US" sz="1600">
                <a:solidFill>
                  <a:srgbClr val="000000"/>
                </a:solidFill>
                <a:latin typeface="NimbusRomNo9L-Regu"/>
                <a:ea typeface="NimbusRomNo9L-Regu"/>
              </a:rPr>
              <a:t>的优秀指标。</a:t>
            </a:r>
            <a:endParaRPr lang="zh-CN" altLang="en-US" sz="1600">
              <a:solidFill>
                <a:srgbClr val="000000"/>
              </a:solidFill>
              <a:latin typeface="NimbusRomNo9L-Regu"/>
              <a:ea typeface="NimbusRomNo9L-Regu"/>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a:t>
            </a:r>
            <a:r>
              <a:rPr lang="zh-CN" altLang="en-US"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Biases of LLMs in Stance Detection </a:t>
            </a:r>
            <a:endPar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10" name="文本框 9"/>
          <p:cNvSpPr txBox="1"/>
          <p:nvPr/>
        </p:nvSpPr>
        <p:spPr>
          <a:xfrm>
            <a:off x="4377055" y="2054225"/>
            <a:ext cx="6612890" cy="2749550"/>
          </a:xfrm>
          <a:prstGeom prst="rect">
            <a:avLst/>
          </a:prstGeom>
        </p:spPr>
        <p:txBody>
          <a:bodyPr>
            <a:noAutofit/>
          </a:bodyPr>
          <a:p>
            <a:pPr marL="0" indent="0" algn="just" defTabSz="266700">
              <a:lnSpc>
                <a:spcPct val="150000"/>
              </a:lnSpc>
              <a:spcBef>
                <a:spcPct val="0"/>
              </a:spcBef>
              <a:spcAft>
                <a:spcPct val="0"/>
              </a:spcAft>
            </a:pPr>
            <a:r>
              <a:rPr lang="zh-CN" altLang="en-US" sz="1600">
                <a:solidFill>
                  <a:srgbClr val="000000"/>
                </a:solidFill>
                <a:latin typeface="NimbusRomNo9L-Regu"/>
                <a:ea typeface="NimbusRomNo9L-Regu"/>
              </a:rPr>
              <a:t>召回率的标准偏差（</a:t>
            </a:r>
            <a:r>
              <a:rPr lang="en-US" altLang="zh-CN" sz="1600">
                <a:solidFill>
                  <a:srgbClr val="000000"/>
                </a:solidFill>
                <a:latin typeface="NimbusRomNo9L-Regu"/>
                <a:ea typeface="NimbusRomNo9L-Regu"/>
              </a:rPr>
              <a:t>standard deviation of recall, RStd</a:t>
            </a:r>
            <a:r>
              <a:rPr lang="zh-CN" altLang="en-US" sz="1600">
                <a:solidFill>
                  <a:srgbClr val="000000"/>
                </a:solidFill>
                <a:latin typeface="NimbusRomNo9L-Regu"/>
                <a:ea typeface="NimbusRomNo9L-Regu"/>
              </a:rPr>
              <a:t>）可以在很大程度上缓解数据集中标签不平衡的影响，并有效评估模型偏差。该指标通常用于评估模型偏差，</a:t>
            </a:r>
            <a:r>
              <a:rPr lang="zh-CN" altLang="en-US" sz="1600">
                <a:solidFill>
                  <a:srgbClr val="000000"/>
                </a:solidFill>
                <a:highlight>
                  <a:srgbClr val="FFFF00"/>
                </a:highlight>
                <a:latin typeface="NimbusRomNo9L-Regu"/>
                <a:ea typeface="NimbusRomNo9L-Regu"/>
              </a:rPr>
              <a:t>为了说明该指标对标签不平衡的鲁棒性</a:t>
            </a:r>
            <a:r>
              <a:rPr lang="zh-CN" altLang="en-US" sz="1600">
                <a:solidFill>
                  <a:srgbClr val="000000"/>
                </a:solidFill>
                <a:latin typeface="NimbusRomNo9L-Regu"/>
                <a:ea typeface="NimbusRomNo9L-Regu"/>
              </a:rPr>
              <a:t>，我们提供了一个在</a:t>
            </a:r>
            <a:r>
              <a:rPr lang="en-US" altLang="zh-CN" sz="1600">
                <a:solidFill>
                  <a:srgbClr val="000000"/>
                </a:solidFill>
                <a:latin typeface="NimbusRomNo9L-Regu"/>
                <a:ea typeface="NimbusRomNo9L-Regu"/>
              </a:rPr>
              <a:t>Sem16</a:t>
            </a:r>
            <a:r>
              <a:rPr lang="zh-CN" altLang="en-US" sz="1600">
                <a:solidFill>
                  <a:srgbClr val="000000"/>
                </a:solidFill>
                <a:latin typeface="NimbusRomNo9L-Regu"/>
                <a:ea typeface="NimbusRomNo9L-Regu"/>
              </a:rPr>
              <a:t>数据集上的实验示例。</a:t>
            </a:r>
            <a:r>
              <a:rPr lang="en-US" altLang="zh-CN" sz="1600">
                <a:solidFill>
                  <a:srgbClr val="000000"/>
                </a:solidFill>
                <a:latin typeface="NimbusRomNo9L-Regu"/>
                <a:ea typeface="NimbusRomNo9L-Regu"/>
              </a:rPr>
              <a:t>ground truth</a:t>
            </a:r>
            <a:r>
              <a:rPr lang="zh-CN" altLang="en-US" sz="1600">
                <a:solidFill>
                  <a:srgbClr val="000000"/>
                </a:solidFill>
                <a:latin typeface="NimbusRomNo9L-Regu"/>
                <a:ea typeface="NimbusRomNo9L-Regu"/>
              </a:rPr>
              <a:t>数据分布如表</a:t>
            </a:r>
            <a:r>
              <a:rPr lang="en-US" altLang="zh-CN" sz="1600">
                <a:solidFill>
                  <a:srgbClr val="000000"/>
                </a:solidFill>
                <a:latin typeface="NimbusRomNo9L-Regu"/>
                <a:ea typeface="NimbusRomNo9L-Regu"/>
              </a:rPr>
              <a:t>8</a:t>
            </a:r>
            <a:r>
              <a:rPr lang="zh-CN" altLang="en-US" sz="1600">
                <a:solidFill>
                  <a:srgbClr val="000000"/>
                </a:solidFill>
                <a:latin typeface="NimbusRomNo9L-Regu"/>
                <a:ea typeface="NimbusRomNo9L-Regu"/>
              </a:rPr>
              <a:t>所示。我们发现标签分布存在一定程度的不平衡。基于此，我们在每种情绪上分别采样了</a:t>
            </a:r>
            <a:r>
              <a:rPr lang="en-US" altLang="zh-CN" sz="1600">
                <a:solidFill>
                  <a:srgbClr val="000000"/>
                </a:solidFill>
                <a:latin typeface="NimbusRomNo9L-Regu"/>
                <a:ea typeface="NimbusRomNo9L-Regu"/>
              </a:rPr>
              <a:t>200</a:t>
            </a:r>
            <a:r>
              <a:rPr lang="zh-CN" altLang="en-US" sz="1600">
                <a:solidFill>
                  <a:srgbClr val="000000"/>
                </a:solidFill>
                <a:latin typeface="NimbusRomNo9L-Regu"/>
                <a:ea typeface="NimbusRomNo9L-Regu"/>
              </a:rPr>
              <a:t>个基本事实为支持、不支持和反对的实例。采样的实例没有显示不平衡。我们在这些采样实例上计算了</a:t>
            </a:r>
            <a:r>
              <a:rPr lang="en-US" altLang="zh-CN" sz="1600">
                <a:solidFill>
                  <a:srgbClr val="000000"/>
                </a:solidFill>
                <a:latin typeface="NimbusRomNo9L-Regu"/>
                <a:ea typeface="NimbusRomNo9L-Regu"/>
              </a:rPr>
              <a:t>Bias-SSC</a:t>
            </a:r>
            <a:r>
              <a:rPr lang="zh-CN" altLang="en-US" sz="1600">
                <a:solidFill>
                  <a:srgbClr val="000000"/>
                </a:solidFill>
                <a:latin typeface="NimbusRomNo9L-Regu"/>
                <a:ea typeface="NimbusRomNo9L-Regu"/>
              </a:rPr>
              <a:t>，得到了</a:t>
            </a:r>
            <a:r>
              <a:rPr lang="en-US" altLang="zh-CN" sz="1600">
                <a:solidFill>
                  <a:srgbClr val="000000"/>
                </a:solidFill>
                <a:latin typeface="NimbusRomNo9L-Regu"/>
                <a:ea typeface="NimbusRomNo9L-Regu"/>
              </a:rPr>
              <a:t>27.34</a:t>
            </a:r>
            <a:r>
              <a:rPr lang="zh-CN" altLang="en-US" sz="1600">
                <a:solidFill>
                  <a:srgbClr val="000000"/>
                </a:solidFill>
                <a:latin typeface="NimbusRomNo9L-Regu"/>
                <a:ea typeface="NimbusRomNo9L-Regu"/>
              </a:rPr>
              <a:t>的结果，而在原始数据集上是</a:t>
            </a:r>
            <a:r>
              <a:rPr lang="en-US" altLang="zh-CN" sz="1600">
                <a:solidFill>
                  <a:srgbClr val="000000"/>
                </a:solidFill>
                <a:latin typeface="NimbusRomNo9L-Regu"/>
                <a:ea typeface="NimbusRomNo9L-Regu"/>
              </a:rPr>
              <a:t>27.13</a:t>
            </a:r>
            <a:r>
              <a:rPr lang="zh-CN" altLang="en-US" sz="1600">
                <a:solidFill>
                  <a:srgbClr val="000000"/>
                </a:solidFill>
                <a:latin typeface="NimbusRomNo9L-Regu"/>
                <a:ea typeface="NimbusRomNo9L-Regu"/>
              </a:rPr>
              <a:t>。因此，我们认为</a:t>
            </a:r>
            <a:r>
              <a:rPr lang="zh-CN" altLang="en-US" sz="1600">
                <a:solidFill>
                  <a:srgbClr val="000000"/>
                </a:solidFill>
                <a:highlight>
                  <a:srgbClr val="FFFF00"/>
                </a:highlight>
                <a:latin typeface="NimbusRomNo9L-Regu"/>
                <a:ea typeface="NimbusRomNo9L-Regu"/>
              </a:rPr>
              <a:t>情感、目标和立场标签的实际分布，不会显著影响我们在</a:t>
            </a:r>
            <a:r>
              <a:rPr lang="en-US" altLang="zh-CN" sz="1600">
                <a:solidFill>
                  <a:srgbClr val="000000"/>
                </a:solidFill>
                <a:highlight>
                  <a:srgbClr val="FFFF00"/>
                </a:highlight>
                <a:latin typeface="NimbusRomNo9L-Regu"/>
                <a:ea typeface="NimbusRomNo9L-Regu"/>
              </a:rPr>
              <a:t>llm</a:t>
            </a:r>
            <a:r>
              <a:rPr lang="zh-CN" altLang="en-US" sz="1600">
                <a:solidFill>
                  <a:srgbClr val="000000"/>
                </a:solidFill>
                <a:highlight>
                  <a:srgbClr val="FFFF00"/>
                </a:highlight>
                <a:latin typeface="NimbusRomNo9L-Regu"/>
                <a:ea typeface="NimbusRomNo9L-Regu"/>
              </a:rPr>
              <a:t>中对立场检测偏差的测量。</a:t>
            </a:r>
            <a:endParaRPr lang="zh-CN" altLang="en-US" sz="1600">
              <a:solidFill>
                <a:srgbClr val="000000"/>
              </a:solidFill>
              <a:highlight>
                <a:srgbClr val="FFFF00"/>
              </a:highlight>
              <a:latin typeface="NimbusRomNo9L-Regu"/>
              <a:ea typeface="NimbusRomNo9L-Regu"/>
            </a:endParaRPr>
          </a:p>
        </p:txBody>
      </p:sp>
      <p:pic>
        <p:nvPicPr>
          <p:cNvPr id="12" name="图片 11"/>
          <p:cNvPicPr>
            <a:picLocks noChangeAspect="1"/>
          </p:cNvPicPr>
          <p:nvPr/>
        </p:nvPicPr>
        <p:blipFill>
          <a:blip r:embed="rId1"/>
          <a:srcRect l="18869" t="7063" r="16066" b="36369"/>
          <a:stretch>
            <a:fillRect/>
          </a:stretch>
        </p:blipFill>
        <p:spPr>
          <a:xfrm>
            <a:off x="248920" y="3171825"/>
            <a:ext cx="4128135" cy="14497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6042025" y="2393950"/>
            <a:ext cx="3801745" cy="908050"/>
          </a:xfrm>
          <a:prstGeom prst="rect">
            <a:avLst/>
          </a:prstGeom>
        </p:spPr>
      </p:pic>
      <p:graphicFrame>
        <p:nvGraphicFramePr>
          <p:cNvPr id="7" name="表格 6"/>
          <p:cNvGraphicFramePr/>
          <p:nvPr>
            <p:custDataLst>
              <p:tags r:id="rId2"/>
            </p:custDataLst>
          </p:nvPr>
        </p:nvGraphicFramePr>
        <p:xfrm>
          <a:off x="9997440" y="2482215"/>
          <a:ext cx="2002155" cy="731520"/>
        </p:xfrm>
        <a:graphic>
          <a:graphicData uri="http://schemas.openxmlformats.org/drawingml/2006/table">
            <a:tbl>
              <a:tblPr/>
              <a:tblGrid>
                <a:gridCol w="350520"/>
                <a:gridCol w="1651635"/>
              </a:tblGrid>
              <a:tr h="36576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Xs</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情感标签为</a:t>
                      </a:r>
                      <a:r>
                        <a:rPr lang="en-US" altLang="zh-CN" sz="1100" b="0" i="0">
                          <a:solidFill>
                            <a:srgbClr val="000000"/>
                          </a:solidFill>
                          <a:latin typeface="宋体" panose="02010600030101010101" pitchFamily="2" charset="-122"/>
                          <a:ea typeface="宋体" panose="02010600030101010101" pitchFamily="2" charset="-122"/>
                        </a:rPr>
                        <a:t>s</a:t>
                      </a:r>
                      <a:r>
                        <a:rPr lang="zh-CN" altLang="en-US" sz="1100" b="0" i="0">
                          <a:solidFill>
                            <a:srgbClr val="000000"/>
                          </a:solidFill>
                          <a:latin typeface="宋体" panose="02010600030101010101" pitchFamily="2" charset="-122"/>
                          <a:ea typeface="宋体" panose="02010600030101010101" pitchFamily="2" charset="-122"/>
                        </a:rPr>
                        <a:t>的实例</a:t>
                      </a:r>
                      <a:r>
                        <a:rPr lang="en-US" altLang="zh-CN" sz="1100" b="0" i="0">
                          <a:solidFill>
                            <a:srgbClr val="000000"/>
                          </a:solidFill>
                          <a:latin typeface="宋体" panose="02010600030101010101" pitchFamily="2" charset="-122"/>
                          <a:ea typeface="宋体" panose="02010600030101010101" pitchFamily="2" charset="-122"/>
                        </a:rPr>
                        <a:t>X</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36576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|S|</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情感标签类别数（</a:t>
                      </a:r>
                      <a:r>
                        <a:rPr lang="en-US" altLang="zh-CN" sz="1100" b="0" i="0">
                          <a:solidFill>
                            <a:srgbClr val="000000"/>
                          </a:solidFill>
                          <a:latin typeface="宋体" panose="02010600030101010101" pitchFamily="2" charset="-122"/>
                          <a:ea typeface="宋体" panose="02010600030101010101" pitchFamily="2" charset="-122"/>
                        </a:rPr>
                        <a:t>3</a:t>
                      </a:r>
                      <a:r>
                        <a:rPr lang="zh-CN" altLang="en-US" sz="1100" b="0" i="0">
                          <a:solidFill>
                            <a:srgbClr val="000000"/>
                          </a:solidFill>
                          <a:latin typeface="宋体" panose="02010600030101010101" pitchFamily="2" charset="-122"/>
                          <a:ea typeface="宋体" panose="02010600030101010101" pitchFamily="2" charset="-122"/>
                        </a:rPr>
                        <a:t>）</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
        <p:nvSpPr>
          <p:cNvPr id="4" name="文本框 3"/>
          <p:cNvSpPr txBox="1"/>
          <p:nvPr/>
        </p:nvSpPr>
        <p:spPr>
          <a:xfrm>
            <a:off x="365125" y="764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 </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Sentiment-Stance Spurious Correlations</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SSC</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endPar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10" name="文本框 9"/>
          <p:cNvSpPr txBox="1"/>
          <p:nvPr/>
        </p:nvSpPr>
        <p:spPr>
          <a:xfrm>
            <a:off x="899795" y="1514475"/>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情感与立场虚假相关</a:t>
            </a:r>
            <a:endParaRPr lang="zh-CN" altLang="en-US" dirty="0" smtClean="0">
              <a:solidFill>
                <a:schemeClr val="tx1">
                  <a:lumMod val="75000"/>
                  <a:lumOff val="25000"/>
                </a:schemeClr>
              </a:solidFill>
            </a:endParaRPr>
          </a:p>
        </p:txBody>
      </p:sp>
      <p:pic>
        <p:nvPicPr>
          <p:cNvPr id="11" name="图片 10"/>
          <p:cNvPicPr>
            <a:picLocks noChangeAspect="1"/>
          </p:cNvPicPr>
          <p:nvPr/>
        </p:nvPicPr>
        <p:blipFill>
          <a:blip r:embed="rId3"/>
          <a:stretch>
            <a:fillRect/>
          </a:stretch>
        </p:blipFill>
        <p:spPr>
          <a:xfrm>
            <a:off x="6349365" y="4593590"/>
            <a:ext cx="3494405" cy="1666875"/>
          </a:xfrm>
          <a:prstGeom prst="rect">
            <a:avLst/>
          </a:prstGeom>
        </p:spPr>
      </p:pic>
      <p:pic>
        <p:nvPicPr>
          <p:cNvPr id="13" name="图片 12"/>
          <p:cNvPicPr>
            <a:picLocks noChangeAspect="1"/>
          </p:cNvPicPr>
          <p:nvPr/>
        </p:nvPicPr>
        <p:blipFill>
          <a:blip r:embed="rId4"/>
          <a:stretch>
            <a:fillRect/>
          </a:stretch>
        </p:blipFill>
        <p:spPr>
          <a:xfrm>
            <a:off x="139065" y="4282440"/>
            <a:ext cx="3958590" cy="2111375"/>
          </a:xfrm>
          <a:prstGeom prst="rect">
            <a:avLst/>
          </a:prstGeom>
        </p:spPr>
      </p:pic>
      <p:sp>
        <p:nvSpPr>
          <p:cNvPr id="14" name="文本框 13"/>
          <p:cNvSpPr txBox="1"/>
          <p:nvPr/>
        </p:nvSpPr>
        <p:spPr>
          <a:xfrm>
            <a:off x="4097655" y="5000625"/>
            <a:ext cx="2132330" cy="929640"/>
          </a:xfrm>
          <a:prstGeom prst="rect">
            <a:avLst/>
          </a:prstGeom>
        </p:spPr>
        <p:txBody>
          <a:bodyPr>
            <a:noAutofit/>
          </a:bodyPr>
          <a:p>
            <a:pPr marL="0" indent="0" algn="just" defTabSz="266700">
              <a:spcBef>
                <a:spcPct val="0"/>
              </a:spcBef>
              <a:spcAft>
                <a:spcPct val="0"/>
              </a:spcAft>
            </a:pPr>
            <a:r>
              <a:rPr lang="en-US" altLang="zh-CN" sz="1600">
                <a:solidFill>
                  <a:srgbClr val="000000"/>
                </a:solidFill>
                <a:latin typeface="NimbusRomNo9L-Regu"/>
                <a:ea typeface="NimbusRomNo9L-Regu"/>
              </a:rPr>
              <a:t>llm</a:t>
            </a:r>
            <a:r>
              <a:rPr lang="zh-CN" altLang="en-US" sz="1600">
                <a:solidFill>
                  <a:srgbClr val="000000"/>
                </a:solidFill>
                <a:latin typeface="NimbusRomNo9L-Regu"/>
                <a:ea typeface="NimbusRomNo9L-Regu"/>
              </a:rPr>
              <a:t>倾向于错误地预测积极情绪样本的“支持”和消极情绪样本的“反对”</a:t>
            </a:r>
            <a:endParaRPr lang="zh-CN" altLang="en-US" sz="1600">
              <a:solidFill>
                <a:srgbClr val="000000"/>
              </a:solidFill>
              <a:latin typeface="NimbusRomNo9L-Regu"/>
              <a:ea typeface="NimbusRomNo9L-Regu"/>
            </a:endParaRPr>
          </a:p>
        </p:txBody>
      </p:sp>
      <p:sp>
        <p:nvSpPr>
          <p:cNvPr id="15" name="文本框 14"/>
          <p:cNvSpPr txBox="1"/>
          <p:nvPr/>
        </p:nvSpPr>
        <p:spPr>
          <a:xfrm>
            <a:off x="10144125" y="5222875"/>
            <a:ext cx="1708785" cy="929005"/>
          </a:xfrm>
          <a:prstGeom prst="rect">
            <a:avLst/>
          </a:prstGeom>
        </p:spPr>
        <p:txBody>
          <a:bodyPr>
            <a:noAutofit/>
          </a:bodyPr>
          <a:p>
            <a:pPr marL="0" indent="0" algn="just" defTabSz="266700">
              <a:spcBef>
                <a:spcPct val="0"/>
              </a:spcBef>
              <a:spcAft>
                <a:spcPct val="0"/>
              </a:spcAft>
            </a:pPr>
            <a:r>
              <a:rPr lang="zh-CN" altLang="en-US" sz="1600">
                <a:solidFill>
                  <a:srgbClr val="000000"/>
                </a:solidFill>
                <a:latin typeface="NimbusRomNo9L-Regu"/>
                <a:ea typeface="NimbusRomNo9L-Regu"/>
              </a:rPr>
              <a:t>在大多数情况下，</a:t>
            </a:r>
            <a:r>
              <a:rPr lang="en-US" altLang="zh-CN" sz="1600">
                <a:solidFill>
                  <a:srgbClr val="000000"/>
                </a:solidFill>
                <a:latin typeface="NimbusRomNo9L-Regu"/>
                <a:ea typeface="NimbusRomNo9L-Regu"/>
              </a:rPr>
              <a:t>bias-SSC</a:t>
            </a:r>
            <a:r>
              <a:rPr lang="zh-CN" altLang="en-US" sz="1600">
                <a:solidFill>
                  <a:srgbClr val="000000"/>
                </a:solidFill>
                <a:latin typeface="NimbusRomNo9L-Regu"/>
                <a:ea typeface="NimbusRomNo9L-Regu"/>
              </a:rPr>
              <a:t>与立场检测性能呈负相关</a:t>
            </a:r>
            <a:endParaRPr lang="zh-CN" altLang="en-US" sz="1600">
              <a:solidFill>
                <a:srgbClr val="000000"/>
              </a:solidFill>
              <a:latin typeface="NimbusRomNo9L-Regu"/>
              <a:ea typeface="NimbusRomNo9L-Regu"/>
            </a:endParaRPr>
          </a:p>
        </p:txBody>
      </p:sp>
      <p:sp>
        <p:nvSpPr>
          <p:cNvPr id="16" name="文本框 15"/>
          <p:cNvSpPr txBox="1"/>
          <p:nvPr/>
        </p:nvSpPr>
        <p:spPr>
          <a:xfrm>
            <a:off x="403860" y="2230120"/>
            <a:ext cx="4676775" cy="1268095"/>
          </a:xfrm>
          <a:prstGeom prst="rect">
            <a:avLst/>
          </a:prstGeom>
        </p:spPr>
        <p:txBody>
          <a:bodyPr>
            <a:noAutofit/>
          </a:bodyPr>
          <a:p>
            <a:pPr marL="0" indent="0" algn="just" defTabSz="266700">
              <a:lnSpc>
                <a:spcPct val="150000"/>
              </a:lnSpc>
              <a:spcBef>
                <a:spcPct val="0"/>
              </a:spcBef>
              <a:spcAft>
                <a:spcPct val="0"/>
              </a:spcAft>
            </a:pPr>
            <a:r>
              <a:rPr lang="zh-CN" altLang="en-US" sz="1600">
                <a:solidFill>
                  <a:srgbClr val="000000"/>
                </a:solidFill>
                <a:latin typeface="NimbusRomNo9L-Regu"/>
                <a:ea typeface="NimbusRomNo9L-Regu"/>
              </a:rPr>
              <a:t>首先根据情感类别将数据集划分为</a:t>
            </a:r>
            <a:r>
              <a:rPr lang="en-US" altLang="zh-CN" sz="1600">
                <a:solidFill>
                  <a:srgbClr val="000000"/>
                </a:solidFill>
                <a:latin typeface="NimbusRomNo9L-Regu"/>
                <a:ea typeface="NimbusRomNo9L-Regu"/>
              </a:rPr>
              <a:t>3</a:t>
            </a:r>
            <a:r>
              <a:rPr lang="zh-CN" altLang="en-US" sz="1600">
                <a:solidFill>
                  <a:srgbClr val="000000"/>
                </a:solidFill>
                <a:latin typeface="NimbusRomNo9L-Regu"/>
                <a:ea typeface="NimbusRomNo9L-Regu"/>
              </a:rPr>
              <a:t>个子集；对于每个子集，我们计算每个立场标签的</a:t>
            </a:r>
            <a:r>
              <a:rPr lang="zh-CN" altLang="en-US" sz="1600" b="1">
                <a:solidFill>
                  <a:srgbClr val="000000"/>
                </a:solidFill>
                <a:latin typeface="NimbusRomNo9L-Regu"/>
                <a:ea typeface="NimbusRomNo9L-Regu"/>
              </a:rPr>
              <a:t>召回分数</a:t>
            </a:r>
            <a:r>
              <a:rPr lang="zh-CN" altLang="en-US" sz="1600">
                <a:solidFill>
                  <a:srgbClr val="000000"/>
                </a:solidFill>
                <a:latin typeface="NimbusRomNo9L-Regu"/>
                <a:ea typeface="NimbusRomNo9L-Regu"/>
              </a:rPr>
              <a:t>，并通过减去整个数据集对应立场标签的总体召回分数来规范化，</a:t>
            </a:r>
            <a:endParaRPr lang="zh-CN" altLang="en-US" sz="1600">
              <a:solidFill>
                <a:srgbClr val="000000"/>
              </a:solidFill>
              <a:latin typeface="NimbusRomNo9L-Regu"/>
              <a:ea typeface="NimbusRomNo9L-Regu"/>
            </a:endParaRPr>
          </a:p>
        </p:txBody>
      </p:sp>
      <p:sp>
        <p:nvSpPr>
          <p:cNvPr id="17" name="文本框 16"/>
          <p:cNvSpPr txBox="1"/>
          <p:nvPr/>
        </p:nvSpPr>
        <p:spPr>
          <a:xfrm>
            <a:off x="1938655" y="3302000"/>
            <a:ext cx="565150" cy="936000"/>
          </a:xfrm>
          <a:prstGeom prst="rect">
            <a:avLst/>
          </a:prstGeom>
          <a:noFill/>
        </p:spPr>
        <p:txBody>
          <a:bodyPr wrap="none" rtlCol="0" anchor="t">
            <a:noAutofit/>
          </a:bodyPr>
          <a:p>
            <a:pPr>
              <a:lnSpc>
                <a:spcPct val="120000"/>
              </a:lnSpc>
            </a:pPr>
            <a:r>
              <a:rPr lang="zh-CN" altLang="en-US" sz="3600" dirty="0" smtClean="0">
                <a:solidFill>
                  <a:schemeClr val="tx1">
                    <a:lumMod val="75000"/>
                    <a:lumOff val="25000"/>
                  </a:schemeClr>
                </a:solidFill>
                <a:latin typeface="Arial" panose="020B0604020202020204" pitchFamily="34" charset="0"/>
                <a:cs typeface="Arial" panose="020B0604020202020204" pitchFamily="34" charset="0"/>
              </a:rPr>
              <a:t>↓</a:t>
            </a:r>
            <a:endParaRPr lang="zh-CN" altLang="en-US" sz="3600"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18" name="文本框 17"/>
          <p:cNvSpPr txBox="1"/>
          <p:nvPr/>
        </p:nvSpPr>
        <p:spPr>
          <a:xfrm>
            <a:off x="7813675" y="3302000"/>
            <a:ext cx="565150" cy="936000"/>
          </a:xfrm>
          <a:prstGeom prst="rect">
            <a:avLst/>
          </a:prstGeom>
          <a:noFill/>
        </p:spPr>
        <p:txBody>
          <a:bodyPr wrap="none" rtlCol="0" anchor="t">
            <a:noAutofit/>
          </a:bodyPr>
          <a:p>
            <a:pPr>
              <a:lnSpc>
                <a:spcPct val="120000"/>
              </a:lnSpc>
            </a:pPr>
            <a:r>
              <a:rPr lang="zh-CN" altLang="en-US" sz="3600" dirty="0" smtClean="0">
                <a:solidFill>
                  <a:schemeClr val="tx1">
                    <a:lumMod val="75000"/>
                    <a:lumOff val="25000"/>
                  </a:schemeClr>
                </a:solidFill>
                <a:latin typeface="Arial" panose="020B0604020202020204" pitchFamily="34" charset="0"/>
                <a:cs typeface="Arial" panose="020B0604020202020204" pitchFamily="34" charset="0"/>
              </a:rPr>
              <a:t>↓</a:t>
            </a:r>
            <a:endParaRPr lang="zh-CN" altLang="en-US" sz="3600" dirty="0" smtClean="0">
              <a:solidFill>
                <a:schemeClr val="tx1">
                  <a:lumMod val="75000"/>
                  <a:lumOff val="25000"/>
                </a:schemeClr>
              </a:solidFill>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148590" y="84010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24" name="图片 23"/>
          <p:cNvPicPr>
            <a:picLocks noChangeAspect="1"/>
          </p:cNvPicPr>
          <p:nvPr/>
        </p:nvPicPr>
        <p:blipFill>
          <a:blip r:embed="rId1"/>
          <a:stretch>
            <a:fillRect/>
          </a:stretch>
        </p:blipFill>
        <p:spPr>
          <a:xfrm>
            <a:off x="1920240" y="2020570"/>
            <a:ext cx="4617720" cy="1569720"/>
          </a:xfrm>
          <a:prstGeom prst="rect">
            <a:avLst/>
          </a:prstGeom>
        </p:spPr>
      </p:pic>
      <p:sp>
        <p:nvSpPr>
          <p:cNvPr id="2" name="文本框 1"/>
          <p:cNvSpPr txBox="1"/>
          <p:nvPr/>
        </p:nvSpPr>
        <p:spPr>
          <a:xfrm>
            <a:off x="255905" y="1522095"/>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6 Tesk-Des</a:t>
            </a:r>
            <a:endParaRPr lang="en-US" altLang="zh-CN" dirty="0" smtClean="0">
              <a:solidFill>
                <a:schemeClr val="tx1">
                  <a:lumMod val="75000"/>
                  <a:lumOff val="25000"/>
                </a:schemeClr>
              </a:solidFill>
            </a:endParaRPr>
          </a:p>
        </p:txBody>
      </p:sp>
      <p:sp>
        <p:nvSpPr>
          <p:cNvPr id="4" name="文本框 3"/>
          <p:cNvSpPr txBox="1"/>
          <p:nvPr/>
        </p:nvSpPr>
        <p:spPr>
          <a:xfrm>
            <a:off x="255905" y="3848735"/>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7 CoT-Demo</a:t>
            </a:r>
            <a:endParaRPr lang="en-US" altLang="zh-CN" dirty="0" smtClean="0">
              <a:solidFill>
                <a:schemeClr val="tx1">
                  <a:lumMod val="75000"/>
                  <a:lumOff val="25000"/>
                </a:schemeClr>
              </a:solidFill>
            </a:endParaRPr>
          </a:p>
        </p:txBody>
      </p:sp>
      <p:sp>
        <p:nvSpPr>
          <p:cNvPr id="6" name="文本框 5"/>
          <p:cNvSpPr txBox="1"/>
          <p:nvPr/>
        </p:nvSpPr>
        <p:spPr>
          <a:xfrm>
            <a:off x="7112000" y="1318578"/>
            <a:ext cx="5080000" cy="337185"/>
          </a:xfrm>
          <a:prstGeom prst="rect">
            <a:avLst/>
          </a:prstGeom>
        </p:spPr>
        <p:txBody>
          <a:bodyPr>
            <a:spAutoFit/>
          </a:bodyPr>
          <a:p>
            <a:r>
              <a:rPr lang="en-US" altLang="zh-CN" sz="1600">
                <a:solidFill>
                  <a:srgbClr val="000000"/>
                </a:solidFill>
                <a:latin typeface="NimbusRomNo9L-Regu"/>
                <a:ea typeface="NimbusRomNo9L-Regu"/>
              </a:rPr>
              <a:t>8 SSC Debias-Instruc</a:t>
            </a:r>
            <a:endParaRPr lang="en-US" altLang="zh-CN" sz="1600">
              <a:solidFill>
                <a:srgbClr val="000000"/>
              </a:solidFill>
              <a:latin typeface="NimbusRomNo9L-Regu"/>
              <a:ea typeface="NimbusRomNo9L-Regu"/>
            </a:endParaRPr>
          </a:p>
        </p:txBody>
      </p:sp>
      <p:sp>
        <p:nvSpPr>
          <p:cNvPr id="8" name="文本框 7"/>
          <p:cNvSpPr txBox="1"/>
          <p:nvPr/>
        </p:nvSpPr>
        <p:spPr>
          <a:xfrm>
            <a:off x="6666230" y="3954145"/>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9 TPB Debias-Instruct</a:t>
            </a:r>
            <a:endParaRPr lang="en-US" altLang="zh-CN" dirty="0" smtClean="0">
              <a:solidFill>
                <a:schemeClr val="tx1">
                  <a:lumMod val="75000"/>
                  <a:lumOff val="25000"/>
                </a:schemeClr>
              </a:solidFill>
            </a:endParaRPr>
          </a:p>
        </p:txBody>
      </p:sp>
      <p:pic>
        <p:nvPicPr>
          <p:cNvPr id="12" name="图片 11"/>
          <p:cNvPicPr>
            <a:picLocks noChangeAspect="1"/>
          </p:cNvPicPr>
          <p:nvPr/>
        </p:nvPicPr>
        <p:blipFill>
          <a:blip r:embed="rId2"/>
          <a:stretch>
            <a:fillRect/>
          </a:stretch>
        </p:blipFill>
        <p:spPr>
          <a:xfrm>
            <a:off x="1755140" y="4272280"/>
            <a:ext cx="4617720" cy="2362200"/>
          </a:xfrm>
          <a:prstGeom prst="rect">
            <a:avLst/>
          </a:prstGeom>
        </p:spPr>
      </p:pic>
      <p:pic>
        <p:nvPicPr>
          <p:cNvPr id="13" name="图片 12"/>
          <p:cNvPicPr>
            <a:picLocks noChangeAspect="1"/>
          </p:cNvPicPr>
          <p:nvPr/>
        </p:nvPicPr>
        <p:blipFill>
          <a:blip r:embed="rId3"/>
          <a:stretch>
            <a:fillRect/>
          </a:stretch>
        </p:blipFill>
        <p:spPr>
          <a:xfrm>
            <a:off x="6964045" y="1726565"/>
            <a:ext cx="4707255" cy="1948815"/>
          </a:xfrm>
          <a:prstGeom prst="rect">
            <a:avLst/>
          </a:prstGeom>
        </p:spPr>
      </p:pic>
      <p:pic>
        <p:nvPicPr>
          <p:cNvPr id="19" name="图片 18"/>
          <p:cNvPicPr>
            <a:picLocks noChangeAspect="1"/>
          </p:cNvPicPr>
          <p:nvPr/>
        </p:nvPicPr>
        <p:blipFill>
          <a:blip r:embed="rId4"/>
          <a:stretch>
            <a:fillRect/>
          </a:stretch>
        </p:blipFill>
        <p:spPr>
          <a:xfrm>
            <a:off x="6964045" y="4491990"/>
            <a:ext cx="4916805" cy="208216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538480" y="2035175"/>
            <a:ext cx="4425315" cy="1057275"/>
          </a:xfrm>
          <a:prstGeom prst="rect">
            <a:avLst/>
          </a:prstGeom>
        </p:spPr>
      </p:pic>
      <p:graphicFrame>
        <p:nvGraphicFramePr>
          <p:cNvPr id="7" name="表格 6"/>
          <p:cNvGraphicFramePr/>
          <p:nvPr/>
        </p:nvGraphicFramePr>
        <p:xfrm>
          <a:off x="5046345" y="2235200"/>
          <a:ext cx="1828800" cy="365760"/>
        </p:xfrm>
        <a:graphic>
          <a:graphicData uri="http://schemas.openxmlformats.org/drawingml/2006/table">
            <a:tbl>
              <a:tblPr/>
              <a:tblGrid>
                <a:gridCol w="320040"/>
                <a:gridCol w="1508760"/>
              </a:tblGrid>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Xs</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情感标签为</a:t>
                      </a:r>
                      <a:r>
                        <a:rPr lang="en-US" altLang="zh-CN" sz="1100" b="0" i="0">
                          <a:solidFill>
                            <a:srgbClr val="000000"/>
                          </a:solidFill>
                          <a:latin typeface="宋体" panose="02010600030101010101" pitchFamily="2" charset="-122"/>
                          <a:ea typeface="宋体" panose="02010600030101010101" pitchFamily="2" charset="-122"/>
                        </a:rPr>
                        <a:t>s</a:t>
                      </a:r>
                      <a:r>
                        <a:rPr lang="zh-CN" altLang="en-US" sz="1100" b="0" i="0">
                          <a:solidFill>
                            <a:srgbClr val="000000"/>
                          </a:solidFill>
                          <a:latin typeface="宋体" panose="02010600030101010101" pitchFamily="2" charset="-122"/>
                          <a:ea typeface="宋体" panose="02010600030101010101" pitchFamily="2" charset="-122"/>
                        </a:rPr>
                        <a:t>的实例</a:t>
                      </a:r>
                      <a:r>
                        <a:rPr lang="en-US" altLang="zh-CN" sz="1100" b="0" i="0">
                          <a:solidFill>
                            <a:srgbClr val="000000"/>
                          </a:solidFill>
                          <a:latin typeface="宋体" panose="02010600030101010101" pitchFamily="2" charset="-122"/>
                          <a:ea typeface="宋体" panose="02010600030101010101" pitchFamily="2" charset="-122"/>
                        </a:rPr>
                        <a:t>X</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|S|</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情感标签类别数（</a:t>
                      </a:r>
                      <a:r>
                        <a:rPr lang="en-US" altLang="zh-CN" sz="1100" b="0" i="0">
                          <a:solidFill>
                            <a:srgbClr val="000000"/>
                          </a:solidFill>
                          <a:latin typeface="宋体" panose="02010600030101010101" pitchFamily="2" charset="-122"/>
                          <a:ea typeface="宋体" panose="02010600030101010101" pitchFamily="2" charset="-122"/>
                        </a:rPr>
                        <a:t>3</a:t>
                      </a:r>
                      <a:r>
                        <a:rPr lang="zh-CN" altLang="en-US" sz="1100" b="0" i="0">
                          <a:solidFill>
                            <a:srgbClr val="000000"/>
                          </a:solidFill>
                          <a:latin typeface="宋体" panose="02010600030101010101" pitchFamily="2" charset="-122"/>
                          <a:ea typeface="宋体" panose="02010600030101010101" pitchFamily="2" charset="-122"/>
                        </a:rPr>
                        <a:t>）</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
        <p:nvSpPr>
          <p:cNvPr id="4" name="文本框 3"/>
          <p:cNvSpPr txBox="1"/>
          <p:nvPr/>
        </p:nvSpPr>
        <p:spPr>
          <a:xfrm>
            <a:off x="365125" y="764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 </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Sentiment-Stance Spurious Correlations</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SSC</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endPar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10" name="文本框 9"/>
          <p:cNvSpPr txBox="1"/>
          <p:nvPr/>
        </p:nvSpPr>
        <p:spPr>
          <a:xfrm>
            <a:off x="899795" y="1514475"/>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情感与立场虚假相关</a:t>
            </a:r>
            <a:endParaRPr lang="zh-CN" altLang="en-US" dirty="0" smtClean="0">
              <a:solidFill>
                <a:schemeClr val="tx1">
                  <a:lumMod val="75000"/>
                  <a:lumOff val="25000"/>
                </a:schemeClr>
              </a:solidFill>
            </a:endParaRPr>
          </a:p>
        </p:txBody>
      </p:sp>
      <p:pic>
        <p:nvPicPr>
          <p:cNvPr id="2" name="图片 1"/>
          <p:cNvPicPr>
            <a:picLocks noChangeAspect="1"/>
          </p:cNvPicPr>
          <p:nvPr/>
        </p:nvPicPr>
        <p:blipFill>
          <a:blip r:embed="rId2"/>
          <a:stretch>
            <a:fillRect/>
          </a:stretch>
        </p:blipFill>
        <p:spPr>
          <a:xfrm>
            <a:off x="899795" y="3532505"/>
            <a:ext cx="3060700" cy="1778000"/>
          </a:xfrm>
          <a:prstGeom prst="rect">
            <a:avLst/>
          </a:prstGeom>
        </p:spPr>
      </p:pic>
      <p:pic>
        <p:nvPicPr>
          <p:cNvPr id="3" name="图片 2"/>
          <p:cNvPicPr>
            <a:picLocks noChangeAspect="1"/>
          </p:cNvPicPr>
          <p:nvPr/>
        </p:nvPicPr>
        <p:blipFill>
          <a:blip r:embed="rId3"/>
          <a:stretch>
            <a:fillRect/>
          </a:stretch>
        </p:blipFill>
        <p:spPr>
          <a:xfrm>
            <a:off x="4384675" y="3532505"/>
            <a:ext cx="3049270" cy="1802130"/>
          </a:xfrm>
          <a:prstGeom prst="rect">
            <a:avLst/>
          </a:prstGeom>
        </p:spPr>
      </p:pic>
      <p:pic>
        <p:nvPicPr>
          <p:cNvPr id="5" name="图片 4"/>
          <p:cNvPicPr>
            <a:picLocks noChangeAspect="1"/>
          </p:cNvPicPr>
          <p:nvPr/>
        </p:nvPicPr>
        <p:blipFill>
          <a:blip r:embed="rId4"/>
          <a:stretch>
            <a:fillRect/>
          </a:stretch>
        </p:blipFill>
        <p:spPr>
          <a:xfrm>
            <a:off x="7887335" y="3465195"/>
            <a:ext cx="3244215" cy="1869440"/>
          </a:xfrm>
          <a:prstGeom prst="rect">
            <a:avLst/>
          </a:prstGeom>
        </p:spPr>
      </p:pic>
      <p:sp>
        <p:nvSpPr>
          <p:cNvPr id="12" name="文本框 11"/>
          <p:cNvSpPr txBox="1"/>
          <p:nvPr/>
        </p:nvSpPr>
        <p:spPr>
          <a:xfrm>
            <a:off x="2526030" y="5750877"/>
            <a:ext cx="5080000" cy="583565"/>
          </a:xfrm>
          <a:prstGeom prst="rect">
            <a:avLst/>
          </a:prstGeom>
        </p:spPr>
        <p:txBody>
          <a:bodyPr>
            <a:spAutoFit/>
          </a:bodyPr>
          <a:p>
            <a:pPr marL="0" indent="0" algn="just" defTabSz="266700">
              <a:spcBef>
                <a:spcPct val="0"/>
              </a:spcBef>
              <a:spcAft>
                <a:spcPct val="0"/>
              </a:spcAft>
            </a:pPr>
            <a:r>
              <a:rPr lang="zh-CN" altLang="en-US" sz="1600">
                <a:solidFill>
                  <a:srgbClr val="000000"/>
                </a:solidFill>
                <a:latin typeface="NimbusRomNo9L-Regu"/>
                <a:ea typeface="NimbusRomNo9L-Regu"/>
              </a:rPr>
              <a:t>具有积极和消极情绪的样本具有更大的</a:t>
            </a:r>
            <a:r>
              <a:rPr lang="en-US" altLang="zh-CN" sz="1600">
                <a:solidFill>
                  <a:srgbClr val="000000"/>
                </a:solidFill>
                <a:latin typeface="NimbusRomNo9L-Regu"/>
                <a:ea typeface="NimbusRomNo9L-Regu"/>
              </a:rPr>
              <a:t>Rstd</a:t>
            </a:r>
            <a:r>
              <a:rPr lang="zh-CN" altLang="en-US" sz="1600">
                <a:solidFill>
                  <a:srgbClr val="000000"/>
                </a:solidFill>
                <a:latin typeface="NimbusRomNo9L-Regu"/>
                <a:ea typeface="NimbusRomNo9L-Regu"/>
              </a:rPr>
              <a:t>，说明情绪作为一种偏倚模式影响了</a:t>
            </a:r>
            <a:r>
              <a:rPr lang="en-US" altLang="zh-CN" sz="1600">
                <a:solidFill>
                  <a:srgbClr val="000000"/>
                </a:solidFill>
                <a:latin typeface="NimbusRomNo9L-Regu"/>
                <a:ea typeface="NimbusRomNo9L-Regu"/>
              </a:rPr>
              <a:t>llm</a:t>
            </a:r>
            <a:r>
              <a:rPr lang="zh-CN" altLang="en-US" sz="1600">
                <a:solidFill>
                  <a:srgbClr val="000000"/>
                </a:solidFill>
                <a:latin typeface="NimbusRomNo9L-Regu"/>
                <a:ea typeface="NimbusRomNo9L-Regu"/>
              </a:rPr>
              <a:t>的立场判断。</a:t>
            </a:r>
            <a:endParaRPr lang="zh-CN" altLang="en-US" sz="1600">
              <a:solidFill>
                <a:srgbClr val="000000"/>
              </a:solidFill>
              <a:latin typeface="NimbusRomNo9L-Regu"/>
              <a:ea typeface="NimbusRomNo9L-Regu"/>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 </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Sentiment-Stance Spurious Correlations</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SSC</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endPar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3" name="文本框 2"/>
          <p:cNvSpPr txBox="1"/>
          <p:nvPr/>
        </p:nvSpPr>
        <p:spPr>
          <a:xfrm>
            <a:off x="1252855" y="1993265"/>
            <a:ext cx="8525510" cy="755650"/>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对于</a:t>
            </a:r>
            <a:r>
              <a:rPr lang="en-US" altLang="zh-CN" dirty="0" smtClean="0">
                <a:solidFill>
                  <a:schemeClr val="tx1">
                    <a:lumMod val="75000"/>
                    <a:lumOff val="25000"/>
                  </a:schemeClr>
                </a:solidFill>
              </a:rPr>
              <a:t>Sem16</a:t>
            </a:r>
            <a:r>
              <a:rPr lang="zh-CN" altLang="en-US" dirty="0" smtClean="0">
                <a:solidFill>
                  <a:schemeClr val="tx1">
                    <a:lumMod val="75000"/>
                    <a:lumOff val="25000"/>
                  </a:schemeClr>
                </a:solidFill>
              </a:rPr>
              <a:t>数据集，每个样本都有标注的情感标签，分为积极、中性或消极。</a:t>
            </a:r>
            <a:endParaRPr lang="zh-CN" altLang="en-US" dirty="0" smtClean="0">
              <a:solidFill>
                <a:schemeClr val="tx1">
                  <a:lumMod val="75000"/>
                  <a:lumOff val="25000"/>
                </a:schemeClr>
              </a:solidFill>
            </a:endParaRPr>
          </a:p>
          <a:p>
            <a:pPr>
              <a:lnSpc>
                <a:spcPct val="120000"/>
              </a:lnSpc>
            </a:pPr>
            <a:r>
              <a:rPr lang="zh-CN" altLang="en-US" dirty="0" smtClean="0">
                <a:solidFill>
                  <a:schemeClr val="tx1">
                    <a:lumMod val="75000"/>
                    <a:lumOff val="25000"/>
                  </a:schemeClr>
                </a:solidFill>
              </a:rPr>
              <a:t>对于</a:t>
            </a:r>
            <a:r>
              <a:rPr lang="en-US" altLang="zh-CN" dirty="0" smtClean="0">
                <a:solidFill>
                  <a:schemeClr val="tx1">
                    <a:lumMod val="75000"/>
                    <a:lumOff val="25000"/>
                  </a:schemeClr>
                </a:solidFill>
              </a:rPr>
              <a:t>P-Stance</a:t>
            </a:r>
            <a:r>
              <a:rPr lang="zh-CN" altLang="en-US" dirty="0" smtClean="0">
                <a:solidFill>
                  <a:schemeClr val="tx1">
                    <a:lumMod val="75000"/>
                    <a:lumOff val="25000"/>
                  </a:schemeClr>
                </a:solidFill>
              </a:rPr>
              <a:t>和</a:t>
            </a:r>
            <a:r>
              <a:rPr lang="en-US" altLang="zh-CN" dirty="0" smtClean="0">
                <a:solidFill>
                  <a:schemeClr val="tx1">
                    <a:lumMod val="75000"/>
                    <a:lumOff val="25000"/>
                  </a:schemeClr>
                </a:solidFill>
              </a:rPr>
              <a:t>VAST</a:t>
            </a:r>
            <a:r>
              <a:rPr lang="zh-CN" altLang="en-US" dirty="0" smtClean="0">
                <a:solidFill>
                  <a:schemeClr val="tx1">
                    <a:lumMod val="75000"/>
                    <a:lumOff val="25000"/>
                  </a:schemeClr>
                </a:solidFill>
              </a:rPr>
              <a:t>的数据集，我们使用</a:t>
            </a:r>
            <a:r>
              <a:rPr lang="en-US" altLang="zh-CN" dirty="0" smtClean="0">
                <a:solidFill>
                  <a:schemeClr val="tx1">
                    <a:lumMod val="75000"/>
                    <a:lumOff val="25000"/>
                  </a:schemeClr>
                </a:solidFill>
              </a:rPr>
              <a:t>GPT-4</a:t>
            </a:r>
            <a:r>
              <a:rPr lang="zh-CN" altLang="en-US" dirty="0" smtClean="0">
                <a:solidFill>
                  <a:schemeClr val="tx1">
                    <a:lumMod val="75000"/>
                    <a:lumOff val="25000"/>
                  </a:schemeClr>
                </a:solidFill>
              </a:rPr>
              <a:t>来标注情感标签。</a:t>
            </a:r>
            <a:endParaRPr lang="zh-CN" altLang="en-US" dirty="0" smtClean="0">
              <a:solidFill>
                <a:schemeClr val="tx1">
                  <a:lumMod val="75000"/>
                  <a:lumOff val="25000"/>
                </a:schemeClr>
              </a:solidFill>
            </a:endParaRPr>
          </a:p>
        </p:txBody>
      </p:sp>
      <p:pic>
        <p:nvPicPr>
          <p:cNvPr id="4" name="图片 3"/>
          <p:cNvPicPr>
            <a:picLocks noChangeAspect="1"/>
          </p:cNvPicPr>
          <p:nvPr/>
        </p:nvPicPr>
        <p:blipFill>
          <a:blip r:embed="rId1"/>
          <a:stretch>
            <a:fillRect/>
          </a:stretch>
        </p:blipFill>
        <p:spPr>
          <a:xfrm>
            <a:off x="1316355" y="3079115"/>
            <a:ext cx="6810375" cy="96393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 </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Target Preference Bias</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TPB</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endPar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pic>
        <p:nvPicPr>
          <p:cNvPr id="8" name="图片 7"/>
          <p:cNvPicPr>
            <a:picLocks noChangeAspect="1"/>
          </p:cNvPicPr>
          <p:nvPr/>
        </p:nvPicPr>
        <p:blipFill>
          <a:blip r:embed="rId1"/>
          <a:stretch>
            <a:fillRect/>
          </a:stretch>
        </p:blipFill>
        <p:spPr>
          <a:xfrm>
            <a:off x="6427470" y="2325370"/>
            <a:ext cx="3468370" cy="869315"/>
          </a:xfrm>
          <a:prstGeom prst="rect">
            <a:avLst/>
          </a:prstGeom>
        </p:spPr>
      </p:pic>
      <p:graphicFrame>
        <p:nvGraphicFramePr>
          <p:cNvPr id="9" name="表格 8"/>
          <p:cNvGraphicFramePr/>
          <p:nvPr/>
        </p:nvGraphicFramePr>
        <p:xfrm>
          <a:off x="10158095" y="2525395"/>
          <a:ext cx="1447800" cy="400685"/>
        </p:xfrm>
        <a:graphic>
          <a:graphicData uri="http://schemas.openxmlformats.org/drawingml/2006/table">
            <a:tbl>
              <a:tblPr/>
              <a:tblGrid>
                <a:gridCol w="320040"/>
                <a:gridCol w="1127760"/>
              </a:tblGrid>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Xt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目标为</a:t>
                      </a:r>
                      <a:r>
                        <a:rPr lang="en-US" altLang="zh-CN" sz="1100" b="0" i="0">
                          <a:solidFill>
                            <a:srgbClr val="000000"/>
                          </a:solidFill>
                          <a:latin typeface="宋体" panose="02010600030101010101" pitchFamily="2" charset="-122"/>
                          <a:ea typeface="宋体" panose="02010600030101010101" pitchFamily="2" charset="-122"/>
                        </a:rPr>
                        <a:t>t</a:t>
                      </a:r>
                      <a:r>
                        <a:rPr lang="zh-CN" altLang="en-US" sz="1100" b="0" i="0">
                          <a:solidFill>
                            <a:srgbClr val="000000"/>
                          </a:solidFill>
                          <a:latin typeface="宋体" panose="02010600030101010101" pitchFamily="2" charset="-122"/>
                          <a:ea typeface="宋体" panose="02010600030101010101" pitchFamily="2" charset="-122"/>
                        </a:rPr>
                        <a:t>的实例</a:t>
                      </a:r>
                      <a:r>
                        <a:rPr lang="en-US" altLang="zh-CN" sz="1100" b="0" i="0">
                          <a:solidFill>
                            <a:srgbClr val="000000"/>
                          </a:solidFill>
                          <a:latin typeface="宋体" panose="02010600030101010101" pitchFamily="2" charset="-122"/>
                          <a:ea typeface="宋体" panose="02010600030101010101" pitchFamily="2" charset="-122"/>
                        </a:rPr>
                        <a:t>X</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217805">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目标数</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pic>
        <p:nvPicPr>
          <p:cNvPr id="3" name="图片 2"/>
          <p:cNvPicPr>
            <a:picLocks noChangeAspect="1"/>
          </p:cNvPicPr>
          <p:nvPr/>
        </p:nvPicPr>
        <p:blipFill>
          <a:blip r:embed="rId2"/>
          <a:stretch>
            <a:fillRect/>
          </a:stretch>
        </p:blipFill>
        <p:spPr>
          <a:xfrm>
            <a:off x="241300" y="4202430"/>
            <a:ext cx="4421505" cy="2379345"/>
          </a:xfrm>
          <a:prstGeom prst="rect">
            <a:avLst/>
          </a:prstGeom>
        </p:spPr>
      </p:pic>
      <p:sp>
        <p:nvSpPr>
          <p:cNvPr id="17" name="文本框 16"/>
          <p:cNvSpPr txBox="1"/>
          <p:nvPr/>
        </p:nvSpPr>
        <p:spPr>
          <a:xfrm>
            <a:off x="1938655" y="3302000"/>
            <a:ext cx="565150" cy="936000"/>
          </a:xfrm>
          <a:prstGeom prst="rect">
            <a:avLst/>
          </a:prstGeom>
          <a:noFill/>
        </p:spPr>
        <p:txBody>
          <a:bodyPr wrap="none" rtlCol="0" anchor="t">
            <a:noAutofit/>
          </a:bodyPr>
          <a:p>
            <a:pPr>
              <a:lnSpc>
                <a:spcPct val="120000"/>
              </a:lnSpc>
            </a:pPr>
            <a:r>
              <a:rPr lang="zh-CN" altLang="en-US" sz="3600" dirty="0" smtClean="0">
                <a:solidFill>
                  <a:schemeClr val="tx1">
                    <a:lumMod val="75000"/>
                    <a:lumOff val="25000"/>
                  </a:schemeClr>
                </a:solidFill>
                <a:latin typeface="Arial" panose="020B0604020202020204" pitchFamily="34" charset="0"/>
                <a:cs typeface="Arial" panose="020B0604020202020204" pitchFamily="34" charset="0"/>
              </a:rPr>
              <a:t>↓</a:t>
            </a:r>
            <a:endParaRPr lang="zh-CN" altLang="en-US" sz="3600"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4" name="文本框 3"/>
          <p:cNvSpPr txBox="1"/>
          <p:nvPr/>
        </p:nvSpPr>
        <p:spPr>
          <a:xfrm>
            <a:off x="7879080" y="3302000"/>
            <a:ext cx="565150" cy="936000"/>
          </a:xfrm>
          <a:prstGeom prst="rect">
            <a:avLst/>
          </a:prstGeom>
          <a:noFill/>
        </p:spPr>
        <p:txBody>
          <a:bodyPr wrap="none" rtlCol="0" anchor="t">
            <a:noAutofit/>
          </a:bodyPr>
          <a:p>
            <a:pPr>
              <a:lnSpc>
                <a:spcPct val="120000"/>
              </a:lnSpc>
            </a:pPr>
            <a:r>
              <a:rPr lang="zh-CN" altLang="en-US" sz="3600" dirty="0" smtClean="0">
                <a:solidFill>
                  <a:schemeClr val="tx1">
                    <a:lumMod val="75000"/>
                    <a:lumOff val="25000"/>
                  </a:schemeClr>
                </a:solidFill>
                <a:latin typeface="Arial" panose="020B0604020202020204" pitchFamily="34" charset="0"/>
                <a:cs typeface="Arial" panose="020B0604020202020204" pitchFamily="34" charset="0"/>
              </a:rPr>
              <a:t>↓</a:t>
            </a:r>
            <a:endParaRPr lang="zh-CN" altLang="en-US" sz="3600" dirty="0" smtClean="0">
              <a:solidFill>
                <a:schemeClr val="tx1">
                  <a:lumMod val="75000"/>
                  <a:lumOff val="25000"/>
                </a:schemeClr>
              </a:solidFill>
              <a:latin typeface="Arial" panose="020B0604020202020204" pitchFamily="34" charset="0"/>
              <a:cs typeface="Arial" panose="020B0604020202020204" pitchFamily="34" charset="0"/>
            </a:endParaRPr>
          </a:p>
        </p:txBody>
      </p:sp>
      <p:sp>
        <p:nvSpPr>
          <p:cNvPr id="10" name="文本框 9"/>
          <p:cNvSpPr txBox="1"/>
          <p:nvPr/>
        </p:nvSpPr>
        <p:spPr>
          <a:xfrm>
            <a:off x="241300" y="2243455"/>
            <a:ext cx="4803140" cy="1254760"/>
          </a:xfrm>
          <a:prstGeom prst="rect">
            <a:avLst/>
          </a:prstGeom>
          <a:noFill/>
        </p:spPr>
        <p:txBody>
          <a:bodyPr wrap="square" rtlCol="0" anchor="ctr">
            <a:noAutofit/>
          </a:bodyPr>
          <a:p>
            <a:pPr>
              <a:lnSpc>
                <a:spcPct val="120000"/>
              </a:lnSpc>
            </a:pPr>
            <a:r>
              <a:rPr lang="zh-CN" altLang="en-US" dirty="0" smtClean="0">
                <a:solidFill>
                  <a:schemeClr val="tx1">
                    <a:lumMod val="75000"/>
                    <a:lumOff val="25000"/>
                  </a:schemeClr>
                </a:solidFill>
              </a:rPr>
              <a:t>我们从不同的数据集中随机采样一些目标，计算每个目标子集上每个立场标签的</a:t>
            </a:r>
            <a:r>
              <a:rPr lang="zh-CN" altLang="en-US" b="1" dirty="0" smtClean="0">
                <a:solidFill>
                  <a:schemeClr val="tx1">
                    <a:lumMod val="75000"/>
                    <a:lumOff val="25000"/>
                  </a:schemeClr>
                </a:solidFill>
              </a:rPr>
              <a:t>召回分数</a:t>
            </a:r>
            <a:r>
              <a:rPr lang="zh-CN" altLang="en-US" dirty="0" smtClean="0">
                <a:solidFill>
                  <a:schemeClr val="tx1">
                    <a:lumMod val="75000"/>
                    <a:lumOff val="25000"/>
                  </a:schemeClr>
                </a:solidFill>
              </a:rPr>
              <a:t>，并通过减去所有目标上相应立场标签的总体召回分数来规范化，</a:t>
            </a:r>
            <a:endParaRPr lang="zh-CN" altLang="en-US" dirty="0" smtClean="0">
              <a:solidFill>
                <a:schemeClr val="tx1">
                  <a:lumMod val="75000"/>
                  <a:lumOff val="25000"/>
                </a:schemeClr>
              </a:solidFill>
            </a:endParaRPr>
          </a:p>
        </p:txBody>
      </p:sp>
      <p:sp>
        <p:nvSpPr>
          <p:cNvPr id="11" name="文本框 10"/>
          <p:cNvSpPr txBox="1"/>
          <p:nvPr/>
        </p:nvSpPr>
        <p:spPr>
          <a:xfrm>
            <a:off x="4744720" y="4815205"/>
            <a:ext cx="1905635" cy="1330325"/>
          </a:xfrm>
          <a:prstGeom prst="rect">
            <a:avLst/>
          </a:prstGeom>
          <a:noFill/>
        </p:spPr>
        <p:txBody>
          <a:bodyPr wrap="square" rtlCol="0" anchor="ctr">
            <a:noAutofit/>
          </a:bodyPr>
          <a:p>
            <a:pPr>
              <a:lnSpc>
                <a:spcPct val="120000"/>
              </a:lnSpc>
            </a:pP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在不同的目标上表现出明显不同的立场选择倾向，最终影响了立场判断的正确性</a:t>
            </a:r>
            <a:endParaRPr lang="zh-CN" altLang="en-US" dirty="0" smtClean="0">
              <a:solidFill>
                <a:schemeClr val="tx1">
                  <a:lumMod val="75000"/>
                  <a:lumOff val="25000"/>
                </a:schemeClr>
              </a:solidFill>
            </a:endParaRPr>
          </a:p>
        </p:txBody>
      </p:sp>
      <p:pic>
        <p:nvPicPr>
          <p:cNvPr id="12" name="图片 11"/>
          <p:cNvPicPr>
            <a:picLocks noChangeAspect="1"/>
          </p:cNvPicPr>
          <p:nvPr/>
        </p:nvPicPr>
        <p:blipFill>
          <a:blip r:embed="rId3"/>
          <a:stretch>
            <a:fillRect/>
          </a:stretch>
        </p:blipFill>
        <p:spPr>
          <a:xfrm>
            <a:off x="6732270" y="4060825"/>
            <a:ext cx="4180840" cy="1943735"/>
          </a:xfrm>
          <a:prstGeom prst="rect">
            <a:avLst/>
          </a:prstGeom>
        </p:spPr>
      </p:pic>
      <p:sp>
        <p:nvSpPr>
          <p:cNvPr id="13" name="文本框 12"/>
          <p:cNvSpPr txBox="1"/>
          <p:nvPr/>
        </p:nvSpPr>
        <p:spPr>
          <a:xfrm>
            <a:off x="6732270" y="6244273"/>
            <a:ext cx="5080000" cy="337185"/>
          </a:xfrm>
          <a:prstGeom prst="rect">
            <a:avLst/>
          </a:prstGeom>
        </p:spPr>
        <p:txBody>
          <a:bodyPr>
            <a:spAutoFit/>
          </a:bodyPr>
          <a:p>
            <a:pPr marL="0" indent="0" algn="just" defTabSz="266700">
              <a:spcBef>
                <a:spcPct val="0"/>
              </a:spcBef>
              <a:spcAft>
                <a:spcPct val="0"/>
              </a:spcAft>
            </a:pPr>
            <a:r>
              <a:rPr lang="zh-CN" altLang="en-US" sz="1600">
                <a:solidFill>
                  <a:srgbClr val="000000"/>
                </a:solidFill>
                <a:latin typeface="NimbusRomNo9L-Regu"/>
                <a:ea typeface="NimbusRomNo9L-Regu"/>
              </a:rPr>
              <a:t>在大多数情况下，</a:t>
            </a:r>
            <a:r>
              <a:rPr lang="en-US" altLang="zh-CN" sz="1600">
                <a:solidFill>
                  <a:srgbClr val="000000"/>
                </a:solidFill>
                <a:latin typeface="NimbusRomNo9L-Regu"/>
                <a:ea typeface="NimbusRomNo9L-Regu"/>
              </a:rPr>
              <a:t>bias-TPB</a:t>
            </a:r>
            <a:r>
              <a:rPr lang="zh-CN" altLang="en-US" sz="1600">
                <a:solidFill>
                  <a:srgbClr val="000000"/>
                </a:solidFill>
                <a:latin typeface="NimbusRomNo9L-Regu"/>
                <a:ea typeface="NimbusRomNo9L-Regu"/>
              </a:rPr>
              <a:t>与立场检测性能呈负相关</a:t>
            </a:r>
            <a:endParaRPr lang="zh-CN" altLang="en-US" sz="1600">
              <a:solidFill>
                <a:srgbClr val="000000"/>
              </a:solidFill>
              <a:latin typeface="NimbusRomNo9L-Regu"/>
              <a:ea typeface="NimbusRomNo9L-Regu"/>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 </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Target Preference Bias</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TPB</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a:t>
            </a:r>
            <a:endPar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pic>
        <p:nvPicPr>
          <p:cNvPr id="2" name="图片 1"/>
          <p:cNvPicPr>
            <a:picLocks noChangeAspect="1"/>
          </p:cNvPicPr>
          <p:nvPr/>
        </p:nvPicPr>
        <p:blipFill>
          <a:blip r:embed="rId1"/>
          <a:stretch>
            <a:fillRect/>
          </a:stretch>
        </p:blipFill>
        <p:spPr>
          <a:xfrm>
            <a:off x="895350" y="2002155"/>
            <a:ext cx="5208905" cy="2087245"/>
          </a:xfrm>
          <a:prstGeom prst="rect">
            <a:avLst/>
          </a:prstGeom>
        </p:spPr>
      </p:pic>
      <p:sp>
        <p:nvSpPr>
          <p:cNvPr id="6" name="文本框 5"/>
          <p:cNvSpPr txBox="1"/>
          <p:nvPr/>
        </p:nvSpPr>
        <p:spPr>
          <a:xfrm>
            <a:off x="2443480" y="5498783"/>
            <a:ext cx="5080000" cy="1076325"/>
          </a:xfrm>
          <a:prstGeom prst="rect">
            <a:avLst/>
          </a:prstGeom>
        </p:spPr>
        <p:txBody>
          <a:bodyPr>
            <a:spAutoFit/>
          </a:bodyPr>
          <a:p>
            <a:pPr marL="0" indent="0" algn="just" defTabSz="266700">
              <a:spcBef>
                <a:spcPct val="0"/>
              </a:spcBef>
              <a:spcAft>
                <a:spcPct val="0"/>
              </a:spcAft>
            </a:pPr>
            <a:r>
              <a:rPr lang="zh-CN" altLang="en-US" sz="1600">
                <a:solidFill>
                  <a:srgbClr val="000000"/>
                </a:solidFill>
                <a:latin typeface="NimbusRomNo9L-Regu"/>
                <a:ea typeface="NimbusRomNo9L-Regu"/>
              </a:rPr>
              <a:t>对于一些有争议的辩论话题如“堕胎合法化”，“女权运动”，以及具体的个体如“唐纳德</a:t>
            </a:r>
            <a:r>
              <a:rPr lang="en-US" altLang="zh-CN" sz="1600">
                <a:solidFill>
                  <a:srgbClr val="000000"/>
                </a:solidFill>
                <a:latin typeface="NimbusRomNo9L-Regu"/>
                <a:ea typeface="NimbusRomNo9L-Regu"/>
              </a:rPr>
              <a:t>·</a:t>
            </a:r>
            <a:r>
              <a:rPr lang="zh-CN" altLang="en-US" sz="1600">
                <a:solidFill>
                  <a:srgbClr val="000000"/>
                </a:solidFill>
                <a:latin typeface="NimbusRomNo9L-Regu"/>
                <a:ea typeface="NimbusRomNo9L-Regu"/>
              </a:rPr>
              <a:t>特朗普”和“希拉里</a:t>
            </a:r>
            <a:r>
              <a:rPr lang="en-US" altLang="zh-CN" sz="1600">
                <a:solidFill>
                  <a:srgbClr val="000000"/>
                </a:solidFill>
                <a:latin typeface="NimbusRomNo9L-Regu"/>
                <a:ea typeface="NimbusRomNo9L-Regu"/>
              </a:rPr>
              <a:t>·</a:t>
            </a:r>
            <a:r>
              <a:rPr lang="zh-CN" altLang="en-US" sz="1600">
                <a:solidFill>
                  <a:srgbClr val="000000"/>
                </a:solidFill>
                <a:latin typeface="NimbusRomNo9L-Regu"/>
                <a:ea typeface="NimbusRomNo9L-Regu"/>
              </a:rPr>
              <a:t>克林顿”，较大的</a:t>
            </a:r>
            <a:r>
              <a:rPr lang="en-US" altLang="zh-CN" sz="1600">
                <a:solidFill>
                  <a:srgbClr val="000000"/>
                </a:solidFill>
                <a:latin typeface="NimbusRomNo9L-Regu"/>
                <a:ea typeface="NimbusRomNo9L-Regu"/>
              </a:rPr>
              <a:t>Rstd</a:t>
            </a:r>
            <a:r>
              <a:rPr lang="zh-CN" altLang="en-US" sz="1600">
                <a:solidFill>
                  <a:srgbClr val="000000"/>
                </a:solidFill>
                <a:latin typeface="NimbusRomNo9L-Regu"/>
                <a:ea typeface="NimbusRomNo9L-Regu"/>
              </a:rPr>
              <a:t>表明</a:t>
            </a:r>
            <a:r>
              <a:rPr lang="en-US" altLang="zh-CN" sz="1600">
                <a:solidFill>
                  <a:srgbClr val="000000"/>
                </a:solidFill>
                <a:latin typeface="NimbusRomNo9L-Regu"/>
                <a:ea typeface="NimbusRomNo9L-Regu"/>
              </a:rPr>
              <a:t>LLMs</a:t>
            </a:r>
            <a:r>
              <a:rPr lang="zh-CN" altLang="en-US" sz="1600">
                <a:solidFill>
                  <a:srgbClr val="000000"/>
                </a:solidFill>
                <a:latin typeface="NimbusRomNo9L-Regu"/>
                <a:ea typeface="NimbusRomNo9L-Regu"/>
              </a:rPr>
              <a:t>表现出较大的目标偏好偏差。</a:t>
            </a:r>
            <a:endParaRPr lang="zh-CN" altLang="en-US" sz="1600">
              <a:solidFill>
                <a:srgbClr val="000000"/>
              </a:solidFill>
              <a:latin typeface="NimbusRomNo9L-Regu"/>
              <a:ea typeface="NimbusRomNo9L-Regu"/>
            </a:endParaRPr>
          </a:p>
        </p:txBody>
      </p:sp>
      <p:pic>
        <p:nvPicPr>
          <p:cNvPr id="7" name="图片 6"/>
          <p:cNvPicPr>
            <a:picLocks noChangeAspect="1"/>
          </p:cNvPicPr>
          <p:nvPr/>
        </p:nvPicPr>
        <p:blipFill>
          <a:blip r:embed="rId2"/>
          <a:stretch>
            <a:fillRect/>
          </a:stretch>
        </p:blipFill>
        <p:spPr>
          <a:xfrm>
            <a:off x="7129145" y="1945005"/>
            <a:ext cx="4853940" cy="220091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12140" y="891858"/>
            <a:ext cx="10170160" cy="829945"/>
          </a:xfrm>
          <a:prstGeom prst="rect">
            <a:avLst/>
          </a:prstGeom>
          <a:noFill/>
        </p:spPr>
        <p:txBody>
          <a:bodyPr wrap="square" rtlCol="0" anchor="ctr">
            <a:spAutoFit/>
          </a:bodyPr>
          <a:p>
            <a:pPr algn="l">
              <a:lnSpc>
                <a:spcPct val="120000"/>
              </a:lnSpc>
              <a:buClrTx/>
              <a:buSzTx/>
              <a:buFontTx/>
            </a:pPr>
            <a:r>
              <a:rPr lang="en-US" altLang="zh-CN" sz="40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rPr>
              <a:t>3 </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Target Preference Bias</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TPB</a:t>
            </a:r>
            <a:r>
              <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endParaRPr lang="zh-CN" altLang="en-US" sz="25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endParaRPr>
          </a:p>
        </p:txBody>
      </p:sp>
      <p:sp>
        <p:nvSpPr>
          <p:cNvPr id="10" name="文本框 9"/>
          <p:cNvSpPr txBox="1"/>
          <p:nvPr/>
        </p:nvSpPr>
        <p:spPr>
          <a:xfrm>
            <a:off x="758825" y="1840865"/>
            <a:ext cx="4803140" cy="1254760"/>
          </a:xfrm>
          <a:prstGeom prst="rect">
            <a:avLst/>
          </a:prstGeom>
          <a:noFill/>
        </p:spPr>
        <p:txBody>
          <a:bodyPr wrap="square" rtlCol="0" anchor="ctr">
            <a:noAutofit/>
          </a:bodyPr>
          <a:p>
            <a:pPr>
              <a:lnSpc>
                <a:spcPct val="120000"/>
              </a:lnSpc>
            </a:pPr>
            <a:r>
              <a:rPr lang="en-US" altLang="zh-CN" dirty="0" smtClean="0">
                <a:solidFill>
                  <a:schemeClr val="tx1">
                    <a:lumMod val="75000"/>
                    <a:lumOff val="25000"/>
                  </a:schemeClr>
                </a:solidFill>
              </a:rPr>
              <a:t>bias-SSC</a:t>
            </a:r>
            <a:r>
              <a:rPr lang="zh-CN" altLang="en-US" dirty="0" smtClean="0">
                <a:solidFill>
                  <a:schemeClr val="tx1">
                    <a:lumMod val="75000"/>
                    <a:lumOff val="25000"/>
                  </a:schemeClr>
                </a:solidFill>
              </a:rPr>
              <a:t>和</a:t>
            </a:r>
            <a:r>
              <a:rPr lang="en-US" altLang="zh-CN" dirty="0" smtClean="0">
                <a:solidFill>
                  <a:schemeClr val="tx1">
                    <a:lumMod val="75000"/>
                    <a:lumOff val="25000"/>
                  </a:schemeClr>
                </a:solidFill>
              </a:rPr>
              <a:t>bias-TPB</a:t>
            </a:r>
            <a:r>
              <a:rPr lang="zh-CN" altLang="en-US" dirty="0" smtClean="0">
                <a:solidFill>
                  <a:schemeClr val="tx1">
                    <a:lumMod val="75000"/>
                    <a:lumOff val="25000"/>
                  </a:schemeClr>
                </a:solidFill>
              </a:rPr>
              <a:t>越大，立场检测结果越差</a:t>
            </a:r>
            <a:endParaRPr lang="zh-CN" altLang="en-US" dirty="0" smtClean="0">
              <a:solidFill>
                <a:schemeClr val="tx1">
                  <a:lumMod val="75000"/>
                  <a:lumOff val="25000"/>
                </a:schemeClr>
              </a:solidFill>
            </a:endParaRPr>
          </a:p>
        </p:txBody>
      </p:sp>
      <p:pic>
        <p:nvPicPr>
          <p:cNvPr id="2" name="图片 1"/>
          <p:cNvPicPr>
            <a:picLocks noChangeAspect="1"/>
          </p:cNvPicPr>
          <p:nvPr/>
        </p:nvPicPr>
        <p:blipFill>
          <a:blip r:embed="rId1"/>
          <a:stretch>
            <a:fillRect/>
          </a:stretch>
        </p:blipFill>
        <p:spPr>
          <a:xfrm>
            <a:off x="758825" y="2917825"/>
            <a:ext cx="4840605" cy="1519555"/>
          </a:xfrm>
          <a:prstGeom prst="rect">
            <a:avLst/>
          </a:prstGeom>
        </p:spPr>
      </p:pic>
      <p:sp>
        <p:nvSpPr>
          <p:cNvPr id="6" name="文本框 5"/>
          <p:cNvSpPr txBox="1"/>
          <p:nvPr/>
        </p:nvSpPr>
        <p:spPr>
          <a:xfrm>
            <a:off x="758825" y="4876483"/>
            <a:ext cx="4064000" cy="755650"/>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bias-SSC</a:t>
            </a:r>
            <a:r>
              <a:rPr lang="zh-CN" altLang="en-US" dirty="0" smtClean="0">
                <a:solidFill>
                  <a:schemeClr val="tx1">
                    <a:lumMod val="75000"/>
                    <a:lumOff val="25000"/>
                  </a:schemeClr>
                </a:solidFill>
              </a:rPr>
              <a:t>与立场检测</a:t>
            </a:r>
            <a:r>
              <a:rPr lang="en-US" altLang="zh-CN" dirty="0" smtClean="0">
                <a:solidFill>
                  <a:schemeClr val="tx1">
                    <a:lumMod val="75000"/>
                    <a:lumOff val="25000"/>
                  </a:schemeClr>
                </a:solidFill>
              </a:rPr>
              <a:t>F1</a:t>
            </a:r>
            <a:r>
              <a:rPr lang="zh-CN" altLang="en-US" dirty="0" smtClean="0">
                <a:solidFill>
                  <a:schemeClr val="tx1">
                    <a:lumMod val="75000"/>
                    <a:lumOff val="25000"/>
                  </a:schemeClr>
                </a:solidFill>
              </a:rPr>
              <a:t>显著负相关，</a:t>
            </a:r>
            <a:r>
              <a:rPr lang="en-US" altLang="zh-CN" dirty="0" smtClean="0">
                <a:solidFill>
                  <a:schemeClr val="tx1">
                    <a:lumMod val="75000"/>
                    <a:lumOff val="25000"/>
                  </a:schemeClr>
                </a:solidFill>
              </a:rPr>
              <a:t>bias-TPB</a:t>
            </a:r>
            <a:r>
              <a:rPr lang="zh-CN" altLang="en-US" dirty="0" smtClean="0">
                <a:solidFill>
                  <a:schemeClr val="tx1">
                    <a:lumMod val="75000"/>
                    <a:lumOff val="25000"/>
                  </a:schemeClr>
                </a:solidFill>
              </a:rPr>
              <a:t>与立场检测</a:t>
            </a:r>
            <a:r>
              <a:rPr lang="en-US" altLang="zh-CN" dirty="0" smtClean="0">
                <a:solidFill>
                  <a:schemeClr val="tx1">
                    <a:lumMod val="75000"/>
                    <a:lumOff val="25000"/>
                  </a:schemeClr>
                </a:solidFill>
              </a:rPr>
              <a:t>F1</a:t>
            </a:r>
            <a:r>
              <a:rPr lang="zh-CN" altLang="en-US" dirty="0" smtClean="0">
                <a:solidFill>
                  <a:schemeClr val="tx1">
                    <a:lumMod val="75000"/>
                    <a:lumOff val="25000"/>
                  </a:schemeClr>
                </a:solidFill>
              </a:rPr>
              <a:t>显著负相关。</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4" name="文本框 3"/>
          <p:cNvSpPr txBox="1"/>
          <p:nvPr/>
        </p:nvSpPr>
        <p:spPr>
          <a:xfrm>
            <a:off x="1041400" y="1656080"/>
            <a:ext cx="8773795" cy="108775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简单而言，该篇论文所做的工作目标是消除立场检测模型中被偏差影响的部分</a:t>
            </a:r>
            <a:endParaRPr lang="zh-CN" altLang="en-US" dirty="0" smtClean="0">
              <a:solidFill>
                <a:schemeClr val="tx1">
                  <a:lumMod val="75000"/>
                  <a:lumOff val="25000"/>
                </a:schemeClr>
              </a:solidFill>
            </a:endParaRPr>
          </a:p>
          <a:p>
            <a:pPr>
              <a:lnSpc>
                <a:spcPct val="120000"/>
              </a:lnSpc>
            </a:pPr>
            <a:r>
              <a:rPr lang="zh-CN" altLang="en-US" dirty="0" smtClean="0">
                <a:solidFill>
                  <a:schemeClr val="tx1">
                    <a:lumMod val="75000"/>
                    <a:lumOff val="25000"/>
                  </a:schemeClr>
                </a:solidFill>
              </a:rPr>
              <a:t>所以第一步是将模型解构，查出哪里是偏差的部分。于是该篇论文化用了一个核心公式，将</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输出的概率分布解构为两部分</a:t>
            </a:r>
            <a:endParaRPr lang="zh-CN" altLang="en-US" dirty="0" smtClean="0">
              <a:solidFill>
                <a:schemeClr val="tx1">
                  <a:lumMod val="75000"/>
                  <a:lumOff val="25000"/>
                </a:schemeClr>
              </a:solidFill>
            </a:endParaRPr>
          </a:p>
        </p:txBody>
      </p:sp>
      <p:pic>
        <p:nvPicPr>
          <p:cNvPr id="5" name="图片 4"/>
          <p:cNvPicPr>
            <a:picLocks noChangeAspect="1"/>
          </p:cNvPicPr>
          <p:nvPr/>
        </p:nvPicPr>
        <p:blipFill>
          <a:blip r:embed="rId1"/>
          <a:srcRect t="17448"/>
          <a:stretch>
            <a:fillRect/>
          </a:stretch>
        </p:blipFill>
        <p:spPr>
          <a:xfrm>
            <a:off x="1917700" y="2925445"/>
            <a:ext cx="7269480" cy="402590"/>
          </a:xfrm>
          <a:prstGeom prst="rect">
            <a:avLst/>
          </a:prstGeom>
        </p:spPr>
      </p:pic>
      <p:pic>
        <p:nvPicPr>
          <p:cNvPr id="11" name="图片 8"/>
          <p:cNvPicPr>
            <a:picLocks noChangeAspect="1"/>
          </p:cNvPicPr>
          <p:nvPr/>
        </p:nvPicPr>
        <p:blipFill>
          <a:blip r:embed="rId2"/>
          <a:srcRect t="15000" r="14617" b="-4048"/>
          <a:stretch>
            <a:fillRect/>
          </a:stretch>
        </p:blipFill>
        <p:spPr>
          <a:xfrm>
            <a:off x="1718945" y="3509010"/>
            <a:ext cx="3571875" cy="474980"/>
          </a:xfrm>
          <a:prstGeom prst="rect">
            <a:avLst/>
          </a:prstGeom>
          <a:noFill/>
          <a:ln>
            <a:noFill/>
          </a:ln>
        </p:spPr>
      </p:pic>
      <p:pic>
        <p:nvPicPr>
          <p:cNvPr id="6" name="图片 5"/>
          <p:cNvPicPr>
            <a:picLocks noChangeAspect="1"/>
          </p:cNvPicPr>
          <p:nvPr/>
        </p:nvPicPr>
        <p:blipFill>
          <a:blip r:embed="rId3"/>
          <a:stretch>
            <a:fillRect/>
          </a:stretch>
        </p:blipFill>
        <p:spPr>
          <a:xfrm>
            <a:off x="6005830" y="3509010"/>
            <a:ext cx="1935480" cy="373380"/>
          </a:xfrm>
          <a:prstGeom prst="rect">
            <a:avLst/>
          </a:prstGeom>
        </p:spPr>
      </p:pic>
      <p:graphicFrame>
        <p:nvGraphicFramePr>
          <p:cNvPr id="7" name="表格 6"/>
          <p:cNvGraphicFramePr/>
          <p:nvPr/>
        </p:nvGraphicFramePr>
        <p:xfrm>
          <a:off x="8322945" y="3429000"/>
          <a:ext cx="1234440" cy="914400"/>
        </p:xfrm>
        <a:graphic>
          <a:graphicData uri="http://schemas.openxmlformats.org/drawingml/2006/table">
            <a:tbl>
              <a:tblPr/>
              <a:tblGrid>
                <a:gridCol w="617220"/>
                <a:gridCol w="617220"/>
              </a:tblGrid>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L</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任务背景</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xi</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文本</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ti</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对应目标</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yi</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返回立场</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Ci</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混淆因子</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graphicFrame>
        <p:nvGraphicFramePr>
          <p:cNvPr id="8" name="表格 7"/>
          <p:cNvGraphicFramePr/>
          <p:nvPr>
            <p:custDataLst>
              <p:tags r:id="rId4"/>
            </p:custDataLst>
          </p:nvPr>
        </p:nvGraphicFramePr>
        <p:xfrm>
          <a:off x="10119995" y="3324225"/>
          <a:ext cx="1512570" cy="1013460"/>
        </p:xfrm>
        <a:graphic>
          <a:graphicData uri="http://schemas.openxmlformats.org/drawingml/2006/table">
            <a:tbl>
              <a:tblPr/>
              <a:tblGrid>
                <a:gridCol w="756285"/>
                <a:gridCol w="756285"/>
              </a:tblGrid>
              <a:tr h="100457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Pobs</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可以认为是</a:t>
                      </a:r>
                      <a:r>
                        <a:rPr lang="en-US" altLang="zh-CN" sz="1100" b="0" i="0">
                          <a:solidFill>
                            <a:srgbClr val="000000"/>
                          </a:solidFill>
                          <a:latin typeface="宋体" panose="02010600030101010101" pitchFamily="2" charset="-122"/>
                          <a:ea typeface="宋体" panose="02010600030101010101" pitchFamily="2" charset="-122"/>
                        </a:rPr>
                        <a:t>LLMs</a:t>
                      </a:r>
                      <a:r>
                        <a:rPr lang="zh-CN" altLang="en-US" sz="1100" b="0" i="0">
                          <a:solidFill>
                            <a:srgbClr val="000000"/>
                          </a:solidFill>
                          <a:latin typeface="宋体" panose="02010600030101010101" pitchFamily="2" charset="-122"/>
                          <a:ea typeface="宋体" panose="02010600030101010101" pitchFamily="2" charset="-122"/>
                        </a:rPr>
                        <a:t>经过</a:t>
                      </a:r>
                      <a:r>
                        <a:rPr lang="en-US" altLang="zh-CN" sz="1100" b="0" i="0">
                          <a:solidFill>
                            <a:srgbClr val="000000"/>
                          </a:solidFill>
                          <a:latin typeface="宋体" panose="02010600030101010101" pitchFamily="2" charset="-122"/>
                          <a:ea typeface="宋体" panose="02010600030101010101" pitchFamily="2" charset="-122"/>
                        </a:rPr>
                        <a:t>argmax</a:t>
                      </a:r>
                      <a:r>
                        <a:rPr lang="zh-CN" altLang="en-US" sz="1100" b="0" i="0">
                          <a:solidFill>
                            <a:srgbClr val="000000"/>
                          </a:solidFill>
                          <a:latin typeface="宋体" panose="02010600030101010101" pitchFamily="2" charset="-122"/>
                          <a:ea typeface="宋体" panose="02010600030101010101" pitchFamily="2" charset="-122"/>
                        </a:rPr>
                        <a:t>操作后的单词概率分布的结果</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
        <p:nvSpPr>
          <p:cNvPr id="12" name="文本框 11"/>
          <p:cNvSpPr txBox="1"/>
          <p:nvPr/>
        </p:nvSpPr>
        <p:spPr>
          <a:xfrm>
            <a:off x="1718945" y="6384925"/>
            <a:ext cx="2970530" cy="294005"/>
          </a:xfrm>
          <a:prstGeom prst="rect">
            <a:avLst/>
          </a:prstGeom>
          <a:noFill/>
        </p:spPr>
        <p:txBody>
          <a:bodyPr wrap="square" rtlCol="0" anchor="ctr">
            <a:noAutofit/>
          </a:bodyPr>
          <a:p>
            <a:pPr>
              <a:lnSpc>
                <a:spcPct val="120000"/>
              </a:lnSpc>
            </a:pPr>
            <a:r>
              <a:rPr lang="zh-CN" altLang="en-US" dirty="0" smtClean="0">
                <a:solidFill>
                  <a:schemeClr val="tx1">
                    <a:lumMod val="75000"/>
                    <a:lumOff val="25000"/>
                  </a:schemeClr>
                </a:solidFill>
              </a:rPr>
              <a:t>目标</a:t>
            </a:r>
            <a:r>
              <a:rPr lang="en-US" altLang="zh-CN" dirty="0" smtClean="0">
                <a:solidFill>
                  <a:schemeClr val="tx1">
                    <a:lumMod val="75000"/>
                    <a:lumOff val="25000"/>
                  </a:schemeClr>
                </a:solidFill>
              </a:rPr>
              <a:t>——</a:t>
            </a:r>
            <a:r>
              <a:rPr lang="zh-CN" altLang="en-US" dirty="0" smtClean="0">
                <a:solidFill>
                  <a:schemeClr val="tx1">
                    <a:lumMod val="75000"/>
                    <a:lumOff val="25000"/>
                  </a:schemeClr>
                </a:solidFill>
              </a:rPr>
              <a:t>无偏的</a:t>
            </a:r>
            <a:r>
              <a:rPr lang="en-US" altLang="zh-CN" dirty="0" smtClean="0">
                <a:solidFill>
                  <a:schemeClr val="tx1">
                    <a:lumMod val="75000"/>
                    <a:lumOff val="25000"/>
                  </a:schemeClr>
                </a:solidFill>
              </a:rPr>
              <a:t>P</a:t>
            </a:r>
            <a:r>
              <a:rPr lang="zh-CN" altLang="en-US" dirty="0" smtClean="0">
                <a:solidFill>
                  <a:schemeClr val="tx1">
                    <a:lumMod val="75000"/>
                    <a:lumOff val="25000"/>
                  </a:schemeClr>
                </a:solidFill>
              </a:rPr>
              <a:t>立场分布</a:t>
            </a:r>
            <a:endParaRPr lang="zh-CN" altLang="en-US" dirty="0" smtClean="0">
              <a:solidFill>
                <a:schemeClr val="tx1">
                  <a:lumMod val="75000"/>
                  <a:lumOff val="25000"/>
                </a:schemeClr>
              </a:solidFill>
            </a:endParaRPr>
          </a:p>
        </p:txBody>
      </p:sp>
      <p:sp>
        <p:nvSpPr>
          <p:cNvPr id="2" name="文本框 1"/>
          <p:cNvSpPr txBox="1"/>
          <p:nvPr/>
        </p:nvSpPr>
        <p:spPr>
          <a:xfrm>
            <a:off x="273050" y="2900680"/>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核心公式原型：</a:t>
            </a:r>
            <a:endParaRPr lang="zh-CN" altLang="en-US" dirty="0" smtClean="0">
              <a:solidFill>
                <a:schemeClr val="tx1">
                  <a:lumMod val="75000"/>
                  <a:lumOff val="25000"/>
                </a:schemeClr>
              </a:solidFill>
            </a:endParaRPr>
          </a:p>
        </p:txBody>
      </p:sp>
      <p:sp>
        <p:nvSpPr>
          <p:cNvPr id="3" name="文本框 2"/>
          <p:cNvSpPr txBox="1"/>
          <p:nvPr/>
        </p:nvSpPr>
        <p:spPr>
          <a:xfrm>
            <a:off x="273050" y="3509645"/>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核心公式：</a:t>
            </a:r>
            <a:endParaRPr lang="zh-CN" altLang="en-US" dirty="0" smtClean="0">
              <a:solidFill>
                <a:schemeClr val="tx1">
                  <a:lumMod val="75000"/>
                  <a:lumOff val="25000"/>
                </a:schemeClr>
              </a:solidFill>
            </a:endParaRPr>
          </a:p>
        </p:txBody>
      </p:sp>
      <p:pic>
        <p:nvPicPr>
          <p:cNvPr id="10" name="图片 9"/>
          <p:cNvPicPr>
            <a:picLocks noChangeAspect="1"/>
          </p:cNvPicPr>
          <p:nvPr/>
        </p:nvPicPr>
        <p:blipFill>
          <a:blip r:embed="rId5"/>
          <a:stretch>
            <a:fillRect/>
          </a:stretch>
        </p:blipFill>
        <p:spPr>
          <a:xfrm>
            <a:off x="1718945" y="5118100"/>
            <a:ext cx="4594860" cy="561340"/>
          </a:xfrm>
          <a:prstGeom prst="rect">
            <a:avLst/>
          </a:prstGeom>
        </p:spPr>
      </p:pic>
      <p:sp>
        <p:nvSpPr>
          <p:cNvPr id="13" name="文本框 12"/>
          <p:cNvSpPr txBox="1"/>
          <p:nvPr/>
        </p:nvSpPr>
        <p:spPr>
          <a:xfrm>
            <a:off x="6817995" y="4763135"/>
            <a:ext cx="4559300" cy="1271270"/>
          </a:xfrm>
          <a:prstGeom prst="rect">
            <a:avLst/>
          </a:prstGeom>
          <a:noFill/>
        </p:spPr>
        <p:txBody>
          <a:bodyPr wrap="square" rtlCol="0" anchor="ctr">
            <a:spAutoFit/>
          </a:bodyPr>
          <a:p>
            <a:pPr>
              <a:lnSpc>
                <a:spcPct val="120000"/>
              </a:lnSpc>
            </a:pPr>
            <a:r>
              <a:rPr lang="zh-CN" altLang="en-US" sz="1600" dirty="0" smtClean="0">
                <a:solidFill>
                  <a:schemeClr val="tx1">
                    <a:lumMod val="75000"/>
                    <a:lumOff val="25000"/>
                  </a:schemeClr>
                </a:solidFill>
              </a:rPr>
              <a:t>通过根据已知样本的总体分布（来自训练集）估计偏差分布，</a:t>
            </a:r>
            <a:endParaRPr lang="zh-CN" altLang="en-US" sz="1600" dirty="0" smtClean="0">
              <a:solidFill>
                <a:schemeClr val="tx1">
                  <a:lumMod val="75000"/>
                  <a:lumOff val="25000"/>
                </a:schemeClr>
              </a:solidFill>
            </a:endParaRPr>
          </a:p>
          <a:p>
            <a:pPr>
              <a:lnSpc>
                <a:spcPct val="120000"/>
              </a:lnSpc>
            </a:pPr>
            <a:r>
              <a:rPr lang="zh-CN" altLang="en-US" sz="1600" dirty="0" smtClean="0">
                <a:solidFill>
                  <a:schemeClr val="tx1">
                    <a:lumMod val="75000"/>
                    <a:lumOff val="25000"/>
                  </a:schemeClr>
                </a:solidFill>
              </a:rPr>
              <a:t>我们可以通过将（</a:t>
            </a:r>
            <a:r>
              <a:rPr lang="en-US" altLang="zh-CN" sz="1600" dirty="0" smtClean="0">
                <a:solidFill>
                  <a:schemeClr val="tx1">
                    <a:lumMod val="75000"/>
                    <a:lumOff val="25000"/>
                  </a:schemeClr>
                </a:solidFill>
              </a:rPr>
              <a:t>llm</a:t>
            </a:r>
            <a:r>
              <a:rPr lang="zh-CN" altLang="en-US" sz="1600" dirty="0" smtClean="0">
                <a:solidFill>
                  <a:schemeClr val="tx1">
                    <a:lumMod val="75000"/>
                    <a:lumOff val="25000"/>
                  </a:schemeClr>
                </a:solidFill>
              </a:rPr>
              <a:t>的观测分布）</a:t>
            </a:r>
            <a:r>
              <a:rPr lang="en-US" altLang="zh-CN" sz="1600" dirty="0" smtClean="0">
                <a:solidFill>
                  <a:schemeClr val="tx1">
                    <a:lumMod val="75000"/>
                    <a:lumOff val="25000"/>
                  </a:schemeClr>
                </a:solidFill>
              </a:rPr>
              <a:t>*</a:t>
            </a:r>
            <a:r>
              <a:rPr lang="zh-CN" altLang="en-US" sz="1600" dirty="0" smtClean="0">
                <a:solidFill>
                  <a:schemeClr val="tx1">
                    <a:lumMod val="75000"/>
                    <a:lumOff val="25000"/>
                  </a:schemeClr>
                </a:solidFill>
              </a:rPr>
              <a:t>（近似偏差分布的倒数）来获得无偏输出</a:t>
            </a:r>
            <a:endParaRPr lang="zh-CN" altLang="en-US" sz="1600"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14" name="图片 13"/>
          <p:cNvPicPr>
            <a:picLocks noChangeAspect="1"/>
          </p:cNvPicPr>
          <p:nvPr/>
        </p:nvPicPr>
        <p:blipFill>
          <a:blip r:embed="rId1"/>
          <a:stretch>
            <a:fillRect/>
          </a:stretch>
        </p:blipFill>
        <p:spPr>
          <a:xfrm>
            <a:off x="712470" y="1906905"/>
            <a:ext cx="3226435" cy="726440"/>
          </a:xfrm>
          <a:prstGeom prst="rect">
            <a:avLst/>
          </a:prstGeom>
        </p:spPr>
      </p:pic>
      <p:sp>
        <p:nvSpPr>
          <p:cNvPr id="15" name="文本框 14"/>
          <p:cNvSpPr txBox="1"/>
          <p:nvPr/>
        </p:nvSpPr>
        <p:spPr>
          <a:xfrm>
            <a:off x="6127750" y="2073275"/>
            <a:ext cx="5269230" cy="560070"/>
          </a:xfrm>
          <a:prstGeom prst="rect">
            <a:avLst/>
          </a:prstGeom>
          <a:noFill/>
        </p:spPr>
        <p:txBody>
          <a:bodyPr wrap="square" rtlCol="0" anchor="ctr">
            <a:noAutofit/>
          </a:bodyPr>
          <a:p>
            <a:pPr>
              <a:lnSpc>
                <a:spcPct val="120000"/>
              </a:lnSpc>
            </a:pPr>
            <a:r>
              <a:rPr lang="zh-CN" dirty="0" smtClean="0">
                <a:solidFill>
                  <a:schemeClr val="tx1">
                    <a:lumMod val="75000"/>
                    <a:lumOff val="25000"/>
                  </a:schemeClr>
                </a:solidFill>
              </a:rPr>
              <a:t>由于</a:t>
            </a:r>
            <a:r>
              <a:rPr lang="zh-CN" altLang="en-US" dirty="0" smtClean="0">
                <a:solidFill>
                  <a:schemeClr val="tx1">
                    <a:lumMod val="75000"/>
                    <a:lumOff val="25000"/>
                  </a:schemeClr>
                </a:solidFill>
              </a:rPr>
              <a:t>不同情感和立场目标的样本具有完全不同的立场偏见分布。因此，本文建议使用一个网络来捕获每个样本特有的偏差分布，称为校准网络</a:t>
            </a:r>
            <a:r>
              <a:rPr lang="en-US" altLang="zh-CN" dirty="0" smtClean="0">
                <a:solidFill>
                  <a:schemeClr val="tx1">
                    <a:lumMod val="75000"/>
                    <a:lumOff val="25000"/>
                  </a:schemeClr>
                </a:solidFill>
              </a:rPr>
              <a:t>fCal</a:t>
            </a:r>
            <a:r>
              <a:rPr lang="zh-CN" altLang="en-US" dirty="0" smtClean="0">
                <a:solidFill>
                  <a:schemeClr val="tx1">
                    <a:lumMod val="75000"/>
                    <a:lumOff val="25000"/>
                  </a:schemeClr>
                </a:solidFill>
              </a:rPr>
              <a:t>。我们使用网络</a:t>
            </a:r>
            <a:r>
              <a:rPr lang="en-US" altLang="zh-CN" dirty="0" smtClean="0">
                <a:solidFill>
                  <a:schemeClr val="tx1">
                    <a:lumMod val="75000"/>
                    <a:lumOff val="25000"/>
                  </a:schemeClr>
                </a:solidFill>
              </a:rPr>
              <a:t>fCal</a:t>
            </a:r>
            <a:r>
              <a:rPr lang="zh-CN" altLang="en-US" dirty="0" smtClean="0">
                <a:solidFill>
                  <a:schemeClr val="tx1">
                    <a:lumMod val="75000"/>
                    <a:lumOff val="25000"/>
                  </a:schemeClr>
                </a:solidFill>
              </a:rPr>
              <a:t>来近似偏差分布的逆投影函数：</a:t>
            </a:r>
            <a:endParaRPr lang="zh-CN" altLang="en-US" dirty="0" smtClean="0">
              <a:solidFill>
                <a:schemeClr val="tx1">
                  <a:lumMod val="75000"/>
                  <a:lumOff val="25000"/>
                </a:schemeClr>
              </a:solidFill>
            </a:endParaRPr>
          </a:p>
        </p:txBody>
      </p:sp>
      <p:pic>
        <p:nvPicPr>
          <p:cNvPr id="16" name="图片 15"/>
          <p:cNvPicPr>
            <a:picLocks noChangeAspect="1"/>
          </p:cNvPicPr>
          <p:nvPr/>
        </p:nvPicPr>
        <p:blipFill>
          <a:blip r:embed="rId2"/>
          <a:stretch>
            <a:fillRect/>
          </a:stretch>
        </p:blipFill>
        <p:spPr>
          <a:xfrm>
            <a:off x="712470" y="3356610"/>
            <a:ext cx="5064125" cy="603885"/>
          </a:xfrm>
          <a:prstGeom prst="rect">
            <a:avLst/>
          </a:prstGeom>
        </p:spPr>
      </p:pic>
      <p:sp>
        <p:nvSpPr>
          <p:cNvPr id="17" name="文本框 16"/>
          <p:cNvSpPr txBox="1"/>
          <p:nvPr/>
        </p:nvSpPr>
        <p:spPr>
          <a:xfrm>
            <a:off x="6127750" y="3356610"/>
            <a:ext cx="6372860" cy="755650"/>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通过输入</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的预测立场分布</a:t>
            </a:r>
            <a:r>
              <a:rPr lang="en-US" altLang="zh-CN" dirty="0" smtClean="0">
                <a:solidFill>
                  <a:schemeClr val="tx1">
                    <a:lumMod val="75000"/>
                    <a:lumOff val="25000"/>
                  </a:schemeClr>
                </a:solidFill>
              </a:rPr>
              <a:t>pob</a:t>
            </a:r>
            <a:r>
              <a:rPr lang="zh-CN" altLang="en-US" dirty="0" smtClean="0">
                <a:solidFill>
                  <a:schemeClr val="tx1">
                    <a:lumMod val="75000"/>
                    <a:lumOff val="25000"/>
                  </a:schemeClr>
                </a:solidFill>
              </a:rPr>
              <a:t>，</a:t>
            </a:r>
            <a:endParaRPr lang="zh-CN" altLang="en-US" dirty="0" smtClean="0">
              <a:solidFill>
                <a:schemeClr val="tx1">
                  <a:lumMod val="75000"/>
                  <a:lumOff val="25000"/>
                </a:schemeClr>
              </a:solidFill>
            </a:endParaRPr>
          </a:p>
          <a:p>
            <a:pPr>
              <a:lnSpc>
                <a:spcPct val="120000"/>
              </a:lnSpc>
            </a:pPr>
            <a:r>
              <a:rPr lang="zh-CN" altLang="en-US" dirty="0" smtClean="0">
                <a:solidFill>
                  <a:schemeClr val="tx1">
                    <a:lumMod val="75000"/>
                    <a:lumOff val="25000"/>
                  </a:schemeClr>
                </a:solidFill>
              </a:rPr>
              <a:t>可以得到一个近似无偏标签</a:t>
            </a:r>
            <a:endParaRPr lang="zh-CN" altLang="en-US" dirty="0" smtClean="0">
              <a:solidFill>
                <a:schemeClr val="tx1">
                  <a:lumMod val="75000"/>
                  <a:lumOff val="25000"/>
                </a:schemeClr>
              </a:solidFill>
            </a:endParaRPr>
          </a:p>
        </p:txBody>
      </p:sp>
      <p:pic>
        <p:nvPicPr>
          <p:cNvPr id="18" name="图片 17"/>
          <p:cNvPicPr>
            <a:picLocks noChangeAspect="1"/>
          </p:cNvPicPr>
          <p:nvPr/>
        </p:nvPicPr>
        <p:blipFill>
          <a:blip r:embed="rId3"/>
          <a:stretch>
            <a:fillRect/>
          </a:stretch>
        </p:blipFill>
        <p:spPr>
          <a:xfrm>
            <a:off x="712470" y="4683760"/>
            <a:ext cx="4740910" cy="857885"/>
          </a:xfrm>
          <a:prstGeom prst="rect">
            <a:avLst/>
          </a:prstGeom>
        </p:spPr>
      </p:pic>
      <p:sp>
        <p:nvSpPr>
          <p:cNvPr id="20" name="文本框 19"/>
          <p:cNvSpPr txBox="1"/>
          <p:nvPr/>
        </p:nvSpPr>
        <p:spPr>
          <a:xfrm>
            <a:off x="6127750" y="4570730"/>
            <a:ext cx="4064000" cy="108775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损失函数所需变量：</a:t>
            </a:r>
            <a:endParaRPr lang="zh-CN" altLang="en-US" dirty="0" smtClean="0">
              <a:solidFill>
                <a:schemeClr val="tx1">
                  <a:lumMod val="75000"/>
                  <a:lumOff val="25000"/>
                </a:schemeClr>
              </a:solidFill>
            </a:endParaRPr>
          </a:p>
          <a:p>
            <a:pPr>
              <a:lnSpc>
                <a:spcPct val="120000"/>
              </a:lnSpc>
            </a:pPr>
            <a:r>
              <a:rPr lang="en-US" altLang="zh-CN" dirty="0" smtClean="0">
                <a:solidFill>
                  <a:schemeClr val="tx1">
                    <a:lumMod val="75000"/>
                    <a:lumOff val="25000"/>
                  </a:schemeClr>
                </a:solidFill>
              </a:rPr>
              <a:t>1</a:t>
            </a:r>
            <a:r>
              <a:rPr lang="zh-CN" altLang="en-US" dirty="0" smtClean="0">
                <a:solidFill>
                  <a:schemeClr val="tx1">
                    <a:lumMod val="75000"/>
                    <a:lumOff val="25000"/>
                  </a:schemeClr>
                </a:solidFill>
              </a:rPr>
              <a:t>，单个立场在训练集已训练的分布</a:t>
            </a:r>
            <a:endParaRPr lang="zh-CN" altLang="en-US" dirty="0" smtClean="0">
              <a:solidFill>
                <a:schemeClr val="tx1">
                  <a:lumMod val="75000"/>
                  <a:lumOff val="25000"/>
                </a:schemeClr>
              </a:solidFill>
            </a:endParaRPr>
          </a:p>
          <a:p>
            <a:pPr>
              <a:lnSpc>
                <a:spcPct val="120000"/>
              </a:lnSpc>
            </a:pPr>
            <a:r>
              <a:rPr lang="en-US" altLang="zh-CN" dirty="0" smtClean="0">
                <a:solidFill>
                  <a:schemeClr val="tx1">
                    <a:lumMod val="75000"/>
                    <a:lumOff val="25000"/>
                  </a:schemeClr>
                </a:solidFill>
              </a:rPr>
              <a:t>2</a:t>
            </a:r>
            <a:r>
              <a:rPr lang="zh-CN" altLang="en-US" dirty="0" smtClean="0">
                <a:solidFill>
                  <a:schemeClr val="tx1">
                    <a:lumMod val="75000"/>
                    <a:lumOff val="25000"/>
                  </a:schemeClr>
                </a:solidFill>
              </a:rPr>
              <a:t>，</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做出判断的依据文本</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18" name="图片 17"/>
          <p:cNvPicPr>
            <a:picLocks noChangeAspect="1"/>
          </p:cNvPicPr>
          <p:nvPr/>
        </p:nvPicPr>
        <p:blipFill>
          <a:blip r:embed="rId1"/>
          <a:stretch>
            <a:fillRect/>
          </a:stretch>
        </p:blipFill>
        <p:spPr>
          <a:xfrm>
            <a:off x="1259205" y="2461260"/>
            <a:ext cx="4740910" cy="857885"/>
          </a:xfrm>
          <a:prstGeom prst="rect">
            <a:avLst/>
          </a:prstGeom>
        </p:spPr>
      </p:pic>
      <p:sp>
        <p:nvSpPr>
          <p:cNvPr id="25" name="文本框 24"/>
          <p:cNvSpPr txBox="1"/>
          <p:nvPr/>
        </p:nvSpPr>
        <p:spPr>
          <a:xfrm>
            <a:off x="1195070" y="3587433"/>
            <a:ext cx="5080000" cy="2306955"/>
          </a:xfrm>
          <a:prstGeom prst="rect">
            <a:avLst/>
          </a:prstGeom>
        </p:spPr>
        <p:txBody>
          <a:bodyPr>
            <a:spAutoFit/>
          </a:bodyPr>
          <a:p>
            <a:pPr marL="0" indent="0" algn="l" defTabSz="266700">
              <a:lnSpc>
                <a:spcPct val="150000"/>
              </a:lnSpc>
              <a:spcBef>
                <a:spcPct val="0"/>
              </a:spcBef>
              <a:spcAft>
                <a:spcPct val="0"/>
              </a:spcAft>
            </a:pPr>
            <a:r>
              <a:rPr lang="zh-CN" altLang="en-US" sz="1600">
                <a:solidFill>
                  <a:srgbClr val="000000"/>
                </a:solidFill>
                <a:latin typeface="NimbusRomNo9L-Regu"/>
                <a:ea typeface="NimbusRomNo9L-Regu"/>
              </a:rPr>
              <a:t>具体来说，如图</a:t>
            </a:r>
            <a:r>
              <a:rPr lang="en-US" altLang="zh-CN" sz="1600">
                <a:solidFill>
                  <a:srgbClr val="000000"/>
                </a:solidFill>
                <a:latin typeface="NimbusRomNo9L-Regu"/>
                <a:ea typeface="NimbusRomNo9L-Regu"/>
              </a:rPr>
              <a:t>4</a:t>
            </a:r>
            <a:r>
              <a:rPr lang="zh-CN" altLang="en-US" sz="1600">
                <a:solidFill>
                  <a:srgbClr val="000000"/>
                </a:solidFill>
                <a:latin typeface="NimbusRomNo9L-Regu"/>
                <a:ea typeface="NimbusRomNo9L-Regu"/>
              </a:rPr>
              <a:t>所示，我们首先使用</a:t>
            </a:r>
            <a:r>
              <a:rPr lang="en-US" altLang="zh-CN" sz="1600">
                <a:solidFill>
                  <a:srgbClr val="000000"/>
                </a:solidFill>
                <a:latin typeface="NimbusRomNo9L-Regu"/>
                <a:ea typeface="NimbusRomNo9L-Regu"/>
              </a:rPr>
              <a:t>CoT-Demo</a:t>
            </a:r>
            <a:r>
              <a:rPr lang="zh-CN" altLang="en-US" sz="1600">
                <a:solidFill>
                  <a:srgbClr val="000000"/>
                </a:solidFill>
                <a:latin typeface="NimbusRomNo9L-Regu"/>
                <a:ea typeface="NimbusRomNo9L-Regu"/>
              </a:rPr>
              <a:t>指令从</a:t>
            </a:r>
            <a:r>
              <a:rPr lang="en-US" altLang="zh-CN" sz="1600">
                <a:solidFill>
                  <a:srgbClr val="000000"/>
                </a:solidFill>
                <a:latin typeface="NimbusRomNo9L-Regu"/>
                <a:ea typeface="NimbusRomNo9L-Regu"/>
              </a:rPr>
              <a:t>LLMs</a:t>
            </a:r>
            <a:r>
              <a:rPr lang="zh-CN" altLang="en-US" sz="1600">
                <a:solidFill>
                  <a:srgbClr val="000000"/>
                </a:solidFill>
                <a:latin typeface="NimbusRomNo9L-Regu"/>
                <a:ea typeface="NimbusRomNo9L-Regu"/>
              </a:rPr>
              <a:t>获得立场判断和理由。然后，我们将样本以及此立场判断和理由输入到我们的校准网络（在我们的设置中使用</a:t>
            </a:r>
            <a:r>
              <a:rPr lang="en-US" altLang="zh-CN" sz="1600">
                <a:solidFill>
                  <a:srgbClr val="000000"/>
                </a:solidFill>
                <a:latin typeface="NimbusRomNo9L-Regu"/>
                <a:ea typeface="NimbusRomNo9L-Regu"/>
              </a:rPr>
              <a:t>RoBERTa-base</a:t>
            </a:r>
            <a:r>
              <a:rPr lang="zh-CN" altLang="en-US" sz="1600">
                <a:solidFill>
                  <a:srgbClr val="000000"/>
                </a:solidFill>
                <a:latin typeface="NimbusRomNo9L-Regu"/>
                <a:ea typeface="NimbusRomNo9L-Regu"/>
              </a:rPr>
              <a:t>）以获得去偏立场输出。我们使用带有真实值标签的交叉熵损失函数训练校准网络：</a:t>
            </a:r>
            <a:endParaRPr lang="zh-CN" altLang="en-US" sz="1600">
              <a:solidFill>
                <a:srgbClr val="000000"/>
              </a:solidFill>
              <a:latin typeface="NimbusRomNo9L-Regu"/>
              <a:ea typeface="NimbusRomNo9L-Regu"/>
            </a:endParaRPr>
          </a:p>
        </p:txBody>
      </p:sp>
      <p:pic>
        <p:nvPicPr>
          <p:cNvPr id="12" name="图片 11"/>
          <p:cNvPicPr>
            <a:picLocks noChangeAspect="1"/>
          </p:cNvPicPr>
          <p:nvPr/>
        </p:nvPicPr>
        <p:blipFill>
          <a:blip r:embed="rId2"/>
          <a:stretch>
            <a:fillRect/>
          </a:stretch>
        </p:blipFill>
        <p:spPr>
          <a:xfrm>
            <a:off x="6894195" y="2247900"/>
            <a:ext cx="4617720" cy="2362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588645" y="1878330"/>
            <a:ext cx="10399395" cy="44430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Counterfactual Data Augmentation</a:t>
            </a:r>
            <a:r>
              <a:rPr lang="zh-CN" altLang="en-US"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CAD</a:t>
            </a:r>
            <a:r>
              <a:rPr lang="zh-CN" altLang="en-US"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endParaRPr lang="zh-CN" altLang="en-US"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4" name="文本框 3"/>
          <p:cNvSpPr txBox="1"/>
          <p:nvPr/>
        </p:nvSpPr>
        <p:spPr>
          <a:xfrm>
            <a:off x="1041400" y="1794510"/>
            <a:ext cx="8773795" cy="1018540"/>
          </a:xfrm>
          <a:prstGeom prst="rect">
            <a:avLst/>
          </a:prstGeom>
          <a:noFill/>
        </p:spPr>
        <p:txBody>
          <a:bodyPr wrap="square" rtlCol="0" anchor="ctr">
            <a:noAutofit/>
          </a:bodyPr>
          <a:p>
            <a:pPr>
              <a:lnSpc>
                <a:spcPct val="120000"/>
              </a:lnSpc>
            </a:pPr>
            <a:r>
              <a:rPr lang="en-US" altLang="zh-CN" dirty="0" smtClean="0">
                <a:solidFill>
                  <a:schemeClr val="tx1">
                    <a:lumMod val="75000"/>
                    <a:lumOff val="25000"/>
                  </a:schemeClr>
                </a:solidFill>
              </a:rPr>
              <a:t>FACTUAL</a:t>
            </a:r>
            <a:r>
              <a:rPr lang="zh-CN" altLang="en-US" dirty="0" smtClean="0">
                <a:solidFill>
                  <a:schemeClr val="tx1">
                    <a:lumMod val="75000"/>
                    <a:lumOff val="25000"/>
                  </a:schemeClr>
                </a:solidFill>
              </a:rPr>
              <a:t>：一种称为反事实增强校准网络的新框架，以减轻</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在立场检测上的偏差</a:t>
            </a:r>
            <a:endParaRPr lang="zh-CN" altLang="en-US" dirty="0" smtClean="0">
              <a:solidFill>
                <a:schemeClr val="tx1">
                  <a:lumMod val="75000"/>
                  <a:lumOff val="25000"/>
                </a:schemeClr>
              </a:solidFill>
            </a:endParaRPr>
          </a:p>
          <a:p>
            <a:pPr>
              <a:lnSpc>
                <a:spcPct val="120000"/>
              </a:lnSpc>
            </a:pPr>
            <a:endParaRPr lang="zh-CN" altLang="en-US" dirty="0" smtClean="0">
              <a:solidFill>
                <a:schemeClr val="tx1">
                  <a:lumMod val="75000"/>
                  <a:lumOff val="25000"/>
                </a:schemeClr>
              </a:solidFill>
            </a:endParaRPr>
          </a:p>
          <a:p>
            <a:pPr>
              <a:lnSpc>
                <a:spcPct val="120000"/>
              </a:lnSpc>
            </a:pPr>
            <a:endParaRPr lang="zh-CN" altLang="en-US" dirty="0" smtClean="0">
              <a:solidFill>
                <a:schemeClr val="tx1">
                  <a:lumMod val="75000"/>
                  <a:lumOff val="25000"/>
                </a:schemeClr>
              </a:solidFill>
            </a:endParaRPr>
          </a:p>
        </p:txBody>
      </p:sp>
      <p:pic>
        <p:nvPicPr>
          <p:cNvPr id="3" name="图片 2"/>
          <p:cNvPicPr>
            <a:picLocks noChangeAspect="1"/>
          </p:cNvPicPr>
          <p:nvPr/>
        </p:nvPicPr>
        <p:blipFill>
          <a:blip r:embed="rId1"/>
          <a:stretch>
            <a:fillRect/>
          </a:stretch>
        </p:blipFill>
        <p:spPr>
          <a:xfrm>
            <a:off x="1041400" y="3066415"/>
            <a:ext cx="4396740" cy="800100"/>
          </a:xfrm>
          <a:prstGeom prst="rect">
            <a:avLst/>
          </a:prstGeom>
        </p:spPr>
      </p:pic>
      <p:pic>
        <p:nvPicPr>
          <p:cNvPr id="5" name="图片 4"/>
          <p:cNvPicPr>
            <a:picLocks noChangeAspect="1"/>
          </p:cNvPicPr>
          <p:nvPr/>
        </p:nvPicPr>
        <p:blipFill>
          <a:blip r:embed="rId2"/>
          <a:stretch>
            <a:fillRect/>
          </a:stretch>
        </p:blipFill>
        <p:spPr>
          <a:xfrm>
            <a:off x="1041400" y="4044950"/>
            <a:ext cx="4373880" cy="800100"/>
          </a:xfrm>
          <a:prstGeom prst="rect">
            <a:avLst/>
          </a:prstGeom>
        </p:spPr>
      </p:pic>
      <p:pic>
        <p:nvPicPr>
          <p:cNvPr id="6" name="图片 5"/>
          <p:cNvPicPr>
            <a:picLocks noChangeAspect="1"/>
          </p:cNvPicPr>
          <p:nvPr/>
        </p:nvPicPr>
        <p:blipFill>
          <a:blip r:embed="rId3"/>
          <a:stretch>
            <a:fillRect/>
          </a:stretch>
        </p:blipFill>
        <p:spPr>
          <a:xfrm>
            <a:off x="1041400" y="5023485"/>
            <a:ext cx="3649980" cy="678180"/>
          </a:xfrm>
          <a:prstGeom prst="rect">
            <a:avLst/>
          </a:prstGeom>
        </p:spPr>
      </p:pic>
      <p:pic>
        <p:nvPicPr>
          <p:cNvPr id="10" name="图片 7"/>
          <p:cNvPicPr>
            <a:picLocks noChangeAspect="1"/>
          </p:cNvPicPr>
          <p:nvPr/>
        </p:nvPicPr>
        <p:blipFill>
          <a:blip r:embed="rId4"/>
          <a:srcRect t="19259" r="21067" b="10926"/>
          <a:stretch>
            <a:fillRect/>
          </a:stretch>
        </p:blipFill>
        <p:spPr>
          <a:xfrm>
            <a:off x="1041400" y="2334260"/>
            <a:ext cx="2790825" cy="478790"/>
          </a:xfrm>
          <a:prstGeom prst="rect">
            <a:avLst/>
          </a:prstGeom>
          <a:noFill/>
          <a:ln>
            <a:noFill/>
          </a:ln>
        </p:spPr>
      </p:pic>
      <p:sp>
        <p:nvSpPr>
          <p:cNvPr id="7" name="文本框 6"/>
          <p:cNvSpPr txBox="1"/>
          <p:nvPr/>
        </p:nvSpPr>
        <p:spPr>
          <a:xfrm>
            <a:off x="6419215" y="4089400"/>
            <a:ext cx="4498340" cy="755650"/>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x</a:t>
            </a:r>
            <a:r>
              <a:rPr lang="zh-CN" altLang="en-US" dirty="0" smtClean="0">
                <a:solidFill>
                  <a:schemeClr val="tx1">
                    <a:lumMod val="75000"/>
                    <a:lumOff val="25000"/>
                  </a:schemeClr>
                </a:solidFill>
              </a:rPr>
              <a:t>与</a:t>
            </a:r>
            <a:r>
              <a:rPr lang="en-US" altLang="zh-CN" dirty="0" smtClean="0">
                <a:solidFill>
                  <a:schemeClr val="tx1">
                    <a:lumMod val="75000"/>
                    <a:lumOff val="25000"/>
                  </a:schemeClr>
                </a:solidFill>
              </a:rPr>
              <a:t>t</a:t>
            </a:r>
            <a:r>
              <a:rPr lang="zh-CN" altLang="en-US" dirty="0" smtClean="0">
                <a:solidFill>
                  <a:schemeClr val="tx1">
                    <a:lumMod val="75000"/>
                    <a:lumOff val="25000"/>
                  </a:schemeClr>
                </a:solidFill>
              </a:rPr>
              <a:t>分别为扰动文本和扰动目标，即通过</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将两者同义替换，减弱</a:t>
            </a:r>
            <a:r>
              <a:rPr lang="en-US" altLang="zh-CN" dirty="0" smtClean="0">
                <a:solidFill>
                  <a:schemeClr val="tx1">
                    <a:lumMod val="75000"/>
                    <a:lumOff val="25000"/>
                  </a:schemeClr>
                </a:solidFill>
              </a:rPr>
              <a:t>SSC</a:t>
            </a:r>
            <a:r>
              <a:rPr lang="zh-CN" altLang="en-US" dirty="0" smtClean="0">
                <a:solidFill>
                  <a:schemeClr val="tx1">
                    <a:lumMod val="75000"/>
                    <a:lumOff val="25000"/>
                  </a:schemeClr>
                </a:solidFill>
              </a:rPr>
              <a:t>和</a:t>
            </a:r>
            <a:r>
              <a:rPr lang="en-US" altLang="zh-CN" dirty="0" smtClean="0">
                <a:solidFill>
                  <a:schemeClr val="tx1">
                    <a:lumMod val="75000"/>
                    <a:lumOff val="25000"/>
                  </a:schemeClr>
                </a:solidFill>
              </a:rPr>
              <a:t>TPB</a:t>
            </a:r>
            <a:endParaRPr lang="en-US" altLang="zh-CN" dirty="0" smtClean="0">
              <a:solidFill>
                <a:schemeClr val="tx1">
                  <a:lumMod val="75000"/>
                  <a:lumOff val="25000"/>
                </a:schemeClr>
              </a:solidFill>
            </a:endParaRPr>
          </a:p>
        </p:txBody>
      </p:sp>
      <p:sp>
        <p:nvSpPr>
          <p:cNvPr id="8" name="文本框 7"/>
          <p:cNvSpPr txBox="1"/>
          <p:nvPr/>
        </p:nvSpPr>
        <p:spPr>
          <a:xfrm>
            <a:off x="6419215" y="5150168"/>
            <a:ext cx="5140325"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更改</a:t>
            </a:r>
            <a:r>
              <a:rPr lang="en-US" altLang="zh-CN" dirty="0" smtClean="0">
                <a:solidFill>
                  <a:schemeClr val="tx1">
                    <a:lumMod val="75000"/>
                    <a:lumOff val="25000"/>
                  </a:schemeClr>
                </a:solidFill>
              </a:rPr>
              <a:t>x</a:t>
            </a:r>
            <a:r>
              <a:rPr lang="zh-CN" altLang="en-US" dirty="0" smtClean="0">
                <a:solidFill>
                  <a:schemeClr val="tx1">
                    <a:lumMod val="75000"/>
                    <a:lumOff val="25000"/>
                  </a:schemeClr>
                </a:solidFill>
              </a:rPr>
              <a:t>进行反义替换，起到对抗学习的效果</a:t>
            </a:r>
            <a:endParaRPr lang="zh-CN" altLang="en-US" dirty="0" smtClean="0">
              <a:solidFill>
                <a:schemeClr val="tx1">
                  <a:lumMod val="75000"/>
                  <a:lumOff val="25000"/>
                </a:schemeClr>
              </a:solidFill>
            </a:endParaRPr>
          </a:p>
        </p:txBody>
      </p:sp>
      <p:sp>
        <p:nvSpPr>
          <p:cNvPr id="12" name="文本框 11"/>
          <p:cNvSpPr txBox="1"/>
          <p:nvPr/>
        </p:nvSpPr>
        <p:spPr>
          <a:xfrm>
            <a:off x="6506210" y="3255010"/>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通过结合</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的原因和原立场去偏</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10" name="图片 9"/>
          <p:cNvPicPr>
            <a:picLocks noChangeAspect="1"/>
          </p:cNvPicPr>
          <p:nvPr/>
        </p:nvPicPr>
        <p:blipFill>
          <a:blip r:embed="rId1"/>
          <a:stretch>
            <a:fillRect/>
          </a:stretch>
        </p:blipFill>
        <p:spPr>
          <a:xfrm>
            <a:off x="4080510" y="1859915"/>
            <a:ext cx="5979160" cy="1163320"/>
          </a:xfrm>
          <a:prstGeom prst="rect">
            <a:avLst/>
          </a:prstGeom>
        </p:spPr>
      </p:pic>
      <p:sp>
        <p:nvSpPr>
          <p:cNvPr id="11" name="文本框 10"/>
          <p:cNvSpPr txBox="1"/>
          <p:nvPr/>
        </p:nvSpPr>
        <p:spPr>
          <a:xfrm>
            <a:off x="712470" y="1972310"/>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非因果反事实增广数据</a:t>
            </a:r>
            <a:endParaRPr lang="zh-CN" altLang="en-US" dirty="0" smtClean="0">
              <a:solidFill>
                <a:schemeClr val="tx1">
                  <a:lumMod val="75000"/>
                  <a:lumOff val="25000"/>
                </a:schemeClr>
              </a:solidFill>
            </a:endParaRPr>
          </a:p>
        </p:txBody>
      </p:sp>
      <p:pic>
        <p:nvPicPr>
          <p:cNvPr id="12" name="图片 11"/>
          <p:cNvPicPr>
            <a:picLocks noChangeAspect="1"/>
          </p:cNvPicPr>
          <p:nvPr/>
        </p:nvPicPr>
        <p:blipFill>
          <a:blip r:embed="rId2"/>
          <a:stretch>
            <a:fillRect/>
          </a:stretch>
        </p:blipFill>
        <p:spPr>
          <a:xfrm>
            <a:off x="3985260" y="3801745"/>
            <a:ext cx="6403340" cy="1127760"/>
          </a:xfrm>
          <a:prstGeom prst="rect">
            <a:avLst/>
          </a:prstGeom>
        </p:spPr>
      </p:pic>
      <p:sp>
        <p:nvSpPr>
          <p:cNvPr id="13" name="文本框 12"/>
          <p:cNvSpPr txBox="1"/>
          <p:nvPr/>
        </p:nvSpPr>
        <p:spPr>
          <a:xfrm>
            <a:off x="712470" y="3703320"/>
            <a:ext cx="4064000" cy="423545"/>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sym typeface="+mn-ea"/>
              </a:rPr>
              <a:t>反事实增广数据</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588645" y="1878330"/>
            <a:ext cx="10399395" cy="44430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4</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Mitigating Bias with Calibration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23" name="图片 22"/>
          <p:cNvPicPr>
            <a:picLocks noChangeAspect="1"/>
          </p:cNvPicPr>
          <p:nvPr/>
        </p:nvPicPr>
        <p:blipFill>
          <a:blip r:embed="rId1"/>
          <a:stretch>
            <a:fillRect/>
          </a:stretch>
        </p:blipFill>
        <p:spPr>
          <a:xfrm>
            <a:off x="372110" y="2418715"/>
            <a:ext cx="11000105" cy="33248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5</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Experimental Setup </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2" name="文本框 1"/>
          <p:cNvSpPr txBox="1"/>
          <p:nvPr/>
        </p:nvSpPr>
        <p:spPr>
          <a:xfrm>
            <a:off x="1028065" y="1805940"/>
            <a:ext cx="4793615" cy="108775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1</a:t>
            </a:r>
            <a:r>
              <a:rPr lang="zh-CN" altLang="en-US" dirty="0" smtClean="0">
                <a:solidFill>
                  <a:schemeClr val="tx1">
                    <a:lumMod val="75000"/>
                    <a:lumOff val="25000"/>
                  </a:schemeClr>
                </a:solidFill>
              </a:rPr>
              <a:t>，数据集：</a:t>
            </a:r>
            <a:r>
              <a:rPr lang="en-US" altLang="zh-CN" dirty="0" smtClean="0">
                <a:solidFill>
                  <a:schemeClr val="tx1">
                    <a:lumMod val="75000"/>
                    <a:lumOff val="25000"/>
                  </a:schemeClr>
                </a:solidFill>
              </a:rPr>
              <a:t>SemEval-2016 Task6 (Sem16)</a:t>
            </a:r>
            <a:r>
              <a:rPr lang="zh-CN" altLang="en-US" dirty="0" smtClean="0">
                <a:solidFill>
                  <a:schemeClr val="tx1">
                    <a:lumMod val="75000"/>
                    <a:lumOff val="25000"/>
                  </a:schemeClr>
                </a:solidFill>
              </a:rPr>
              <a:t>、</a:t>
            </a:r>
            <a:endParaRPr lang="zh-CN" altLang="en-US" dirty="0" smtClean="0">
              <a:solidFill>
                <a:schemeClr val="tx1">
                  <a:lumMod val="75000"/>
                  <a:lumOff val="25000"/>
                </a:schemeClr>
              </a:solidFill>
            </a:endParaRPr>
          </a:p>
          <a:p>
            <a:pPr>
              <a:lnSpc>
                <a:spcPct val="120000"/>
              </a:lnSpc>
            </a:pPr>
            <a:r>
              <a:rPr lang="zh-CN" altLang="en-US" dirty="0" smtClean="0">
                <a:solidFill>
                  <a:schemeClr val="tx1">
                    <a:lumMod val="75000"/>
                    <a:lumOff val="25000"/>
                  </a:schemeClr>
                </a:solidFill>
              </a:rPr>
              <a:t> </a:t>
            </a:r>
            <a:r>
              <a:rPr lang="en-US" altLang="zh-CN" dirty="0" smtClean="0">
                <a:solidFill>
                  <a:schemeClr val="tx1">
                    <a:lumMod val="75000"/>
                    <a:lumOff val="25000"/>
                  </a:schemeClr>
                </a:solidFill>
              </a:rPr>
              <a:t>                     P-Stance</a:t>
            </a:r>
            <a:r>
              <a:rPr lang="zh-CN" altLang="en-US" dirty="0" smtClean="0">
                <a:solidFill>
                  <a:schemeClr val="tx1">
                    <a:lumMod val="75000"/>
                    <a:lumOff val="25000"/>
                  </a:schemeClr>
                </a:solidFill>
              </a:rPr>
              <a:t>、</a:t>
            </a:r>
            <a:endParaRPr lang="zh-CN" altLang="en-US" dirty="0" smtClean="0">
              <a:solidFill>
                <a:schemeClr val="tx1">
                  <a:lumMod val="75000"/>
                  <a:lumOff val="25000"/>
                </a:schemeClr>
              </a:solidFill>
            </a:endParaRPr>
          </a:p>
          <a:p>
            <a:pPr>
              <a:lnSpc>
                <a:spcPct val="120000"/>
              </a:lnSpc>
            </a:pPr>
            <a:r>
              <a:rPr lang="zh-CN" altLang="en-US" dirty="0" smtClean="0">
                <a:solidFill>
                  <a:schemeClr val="tx1">
                    <a:lumMod val="75000"/>
                    <a:lumOff val="25000"/>
                  </a:schemeClr>
                </a:solidFill>
              </a:rPr>
              <a:t> </a:t>
            </a:r>
            <a:r>
              <a:rPr lang="en-US" altLang="zh-CN" dirty="0" smtClean="0">
                <a:solidFill>
                  <a:schemeClr val="tx1">
                    <a:lumMod val="75000"/>
                    <a:lumOff val="25000"/>
                  </a:schemeClr>
                </a:solidFill>
              </a:rPr>
              <a:t>                     Varied Stance Topics(VAST) </a:t>
            </a:r>
            <a:endParaRPr lang="en-US" altLang="zh-CN" dirty="0" smtClean="0">
              <a:solidFill>
                <a:schemeClr val="tx1">
                  <a:lumMod val="75000"/>
                  <a:lumOff val="25000"/>
                </a:schemeClr>
              </a:solidFill>
            </a:endParaRPr>
          </a:p>
        </p:txBody>
      </p:sp>
      <p:pic>
        <p:nvPicPr>
          <p:cNvPr id="3" name="图片 2"/>
          <p:cNvPicPr>
            <a:picLocks noChangeAspect="1"/>
          </p:cNvPicPr>
          <p:nvPr/>
        </p:nvPicPr>
        <p:blipFill>
          <a:blip r:embed="rId1"/>
          <a:stretch>
            <a:fillRect/>
          </a:stretch>
        </p:blipFill>
        <p:spPr>
          <a:xfrm>
            <a:off x="878840" y="3145155"/>
            <a:ext cx="4739640" cy="2773680"/>
          </a:xfrm>
          <a:prstGeom prst="rect">
            <a:avLst/>
          </a:prstGeom>
        </p:spPr>
      </p:pic>
      <p:graphicFrame>
        <p:nvGraphicFramePr>
          <p:cNvPr id="4" name="表格 3"/>
          <p:cNvGraphicFramePr/>
          <p:nvPr>
            <p:custDataLst>
              <p:tags r:id="rId2"/>
            </p:custDataLst>
          </p:nvPr>
        </p:nvGraphicFramePr>
        <p:xfrm>
          <a:off x="6704965" y="2682240"/>
          <a:ext cx="3392170" cy="1493520"/>
        </p:xfrm>
        <a:graphic>
          <a:graphicData uri="http://schemas.openxmlformats.org/drawingml/2006/table">
            <a:tbl>
              <a:tblPr/>
              <a:tblGrid>
                <a:gridCol w="3392170"/>
              </a:tblGrid>
              <a:tr h="182880">
                <a:tc>
                  <a:txBody>
                    <a:bodyPr/>
                    <a:p>
                      <a:pPr algn="l" fontAlgn="ctr"/>
                      <a:r>
                        <a:rPr lang="en-US" altLang="zh-CN" sz="2400" b="0" i="0">
                          <a:solidFill>
                            <a:srgbClr val="000000"/>
                          </a:solidFill>
                          <a:latin typeface="宋体" panose="02010600030101010101" pitchFamily="2" charset="-122"/>
                          <a:ea typeface="宋体" panose="02010600030101010101" pitchFamily="2" charset="-122"/>
                        </a:rPr>
                        <a:t>GPT-3.5-turbo-0125</a:t>
                      </a:r>
                      <a:endParaRPr lang="en-US" altLang="zh-CN" sz="24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2400" b="0" i="0">
                          <a:solidFill>
                            <a:srgbClr val="000000"/>
                          </a:solidFill>
                          <a:latin typeface="宋体" panose="02010600030101010101" pitchFamily="2" charset="-122"/>
                          <a:ea typeface="宋体" panose="02010600030101010101" pitchFamily="2" charset="-122"/>
                        </a:rPr>
                        <a:t>LLaMA2-70b-chat</a:t>
                      </a:r>
                      <a:endParaRPr lang="en-US" altLang="zh-CN" sz="24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216535">
                <a:tc>
                  <a:txBody>
                    <a:bodyPr/>
                    <a:p>
                      <a:pPr algn="l" fontAlgn="ctr"/>
                      <a:r>
                        <a:rPr lang="en-US" altLang="zh-CN" sz="2400" b="0" i="0">
                          <a:solidFill>
                            <a:srgbClr val="000000"/>
                          </a:solidFill>
                          <a:latin typeface="宋体" panose="02010600030101010101" pitchFamily="2" charset="-122"/>
                          <a:ea typeface="宋体" panose="02010600030101010101" pitchFamily="2" charset="-122"/>
                        </a:rPr>
                        <a:t>RoBERTabase</a:t>
                      </a:r>
                      <a:endParaRPr lang="en-US" altLang="zh-CN" sz="24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2400" b="0" i="0">
                          <a:solidFill>
                            <a:srgbClr val="000000"/>
                          </a:solidFill>
                          <a:latin typeface="宋体" panose="02010600030101010101" pitchFamily="2" charset="-122"/>
                          <a:ea typeface="宋体" panose="02010600030101010101" pitchFamily="2" charset="-122"/>
                        </a:rPr>
                        <a:t>GPT-3.5-turbo-0301</a:t>
                      </a:r>
                      <a:endParaRPr lang="en-US" altLang="zh-CN" sz="24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
        <p:nvSpPr>
          <p:cNvPr id="7" name="文本框 6"/>
          <p:cNvSpPr txBox="1"/>
          <p:nvPr/>
        </p:nvSpPr>
        <p:spPr>
          <a:xfrm>
            <a:off x="6704965" y="1875790"/>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2</a:t>
            </a:r>
            <a:r>
              <a:rPr lang="zh-CN" altLang="en-US" dirty="0" smtClean="0">
                <a:solidFill>
                  <a:schemeClr val="tx1">
                    <a:lumMod val="75000"/>
                    <a:lumOff val="25000"/>
                  </a:schemeClr>
                </a:solidFill>
              </a:rPr>
              <a:t>，</a:t>
            </a:r>
            <a:r>
              <a:rPr lang="en-US" altLang="zh-CN" dirty="0" smtClean="0">
                <a:solidFill>
                  <a:schemeClr val="tx1">
                    <a:lumMod val="75000"/>
                    <a:lumOff val="25000"/>
                  </a:schemeClr>
                </a:solidFill>
              </a:rPr>
              <a:t>FACTUAL</a:t>
            </a:r>
            <a:r>
              <a:rPr lang="zh-CN" altLang="en-US" dirty="0" smtClean="0">
                <a:solidFill>
                  <a:schemeClr val="tx1">
                    <a:lumMod val="75000"/>
                    <a:lumOff val="25000"/>
                  </a:schemeClr>
                </a:solidFill>
              </a:rPr>
              <a:t>使用模型</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5</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Experimental Setup </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5" name="文本框 4"/>
          <p:cNvSpPr txBox="1"/>
          <p:nvPr/>
        </p:nvSpPr>
        <p:spPr>
          <a:xfrm>
            <a:off x="712470" y="2308860"/>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3</a:t>
            </a:r>
            <a:r>
              <a:rPr lang="zh-CN" altLang="en-US" dirty="0" smtClean="0">
                <a:solidFill>
                  <a:schemeClr val="tx1">
                    <a:lumMod val="75000"/>
                    <a:lumOff val="25000"/>
                  </a:schemeClr>
                </a:solidFill>
              </a:rPr>
              <a:t>，评估指标</a:t>
            </a:r>
            <a:endParaRPr lang="zh-CN" altLang="en-US" dirty="0" smtClean="0">
              <a:solidFill>
                <a:schemeClr val="tx1">
                  <a:lumMod val="75000"/>
                  <a:lumOff val="25000"/>
                </a:schemeClr>
              </a:solidFill>
            </a:endParaRPr>
          </a:p>
        </p:txBody>
      </p:sp>
      <p:pic>
        <p:nvPicPr>
          <p:cNvPr id="6" name="图片 5"/>
          <p:cNvPicPr>
            <a:picLocks noChangeAspect="1"/>
          </p:cNvPicPr>
          <p:nvPr/>
        </p:nvPicPr>
        <p:blipFill>
          <a:blip r:embed="rId1"/>
          <a:stretch>
            <a:fillRect/>
          </a:stretch>
        </p:blipFill>
        <p:spPr>
          <a:xfrm>
            <a:off x="712470" y="3037205"/>
            <a:ext cx="2522220" cy="297180"/>
          </a:xfrm>
          <a:prstGeom prst="rect">
            <a:avLst/>
          </a:prstGeom>
        </p:spPr>
      </p:pic>
      <p:pic>
        <p:nvPicPr>
          <p:cNvPr id="8" name="图片 7"/>
          <p:cNvPicPr>
            <a:picLocks noChangeAspect="1"/>
          </p:cNvPicPr>
          <p:nvPr/>
        </p:nvPicPr>
        <p:blipFill>
          <a:blip r:embed="rId2"/>
          <a:stretch>
            <a:fillRect/>
          </a:stretch>
        </p:blipFill>
        <p:spPr>
          <a:xfrm>
            <a:off x="712470" y="3860800"/>
            <a:ext cx="3307080" cy="281940"/>
          </a:xfrm>
          <a:prstGeom prst="rect">
            <a:avLst/>
          </a:prstGeom>
        </p:spPr>
      </p:pic>
      <p:sp>
        <p:nvSpPr>
          <p:cNvPr id="10" name="文本框 9"/>
          <p:cNvSpPr txBox="1"/>
          <p:nvPr/>
        </p:nvSpPr>
        <p:spPr>
          <a:xfrm>
            <a:off x="6774815" y="1140460"/>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4</a:t>
            </a:r>
            <a:r>
              <a:rPr lang="zh-CN" altLang="en-US" dirty="0" smtClean="0">
                <a:solidFill>
                  <a:schemeClr val="tx1">
                    <a:lumMod val="75000"/>
                    <a:lumOff val="25000"/>
                  </a:schemeClr>
                </a:solidFill>
              </a:rPr>
              <a:t>，比较模型</a:t>
            </a:r>
            <a:endParaRPr lang="zh-CN" altLang="en-US" dirty="0" smtClean="0">
              <a:solidFill>
                <a:schemeClr val="tx1">
                  <a:lumMod val="75000"/>
                  <a:lumOff val="25000"/>
                </a:schemeClr>
              </a:solidFill>
            </a:endParaRPr>
          </a:p>
        </p:txBody>
      </p:sp>
      <p:graphicFrame>
        <p:nvGraphicFramePr>
          <p:cNvPr id="11" name="表格 10"/>
          <p:cNvGraphicFramePr/>
          <p:nvPr/>
        </p:nvGraphicFramePr>
        <p:xfrm>
          <a:off x="6918960" y="2089785"/>
          <a:ext cx="3406140" cy="1463040"/>
        </p:xfrm>
        <a:graphic>
          <a:graphicData uri="http://schemas.openxmlformats.org/drawingml/2006/table">
            <a:tbl>
              <a:tblPr/>
              <a:tblGrid>
                <a:gridCol w="1821180"/>
                <a:gridCol w="1584960"/>
              </a:tblGrid>
              <a:tr h="182880">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基于微调方法</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JointCL</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联合对比学习</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BERtweet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KPT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提示调优方法</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KEprompt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融合概念图知识模型</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KASD-BERT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融合</a:t>
                      </a:r>
                      <a:r>
                        <a:rPr lang="en-US" altLang="zh-CN" sz="1100" b="0" i="0">
                          <a:solidFill>
                            <a:srgbClr val="000000"/>
                          </a:solidFill>
                          <a:latin typeface="宋体" panose="02010600030101010101" pitchFamily="2" charset="-122"/>
                          <a:ea typeface="宋体" panose="02010600030101010101" pitchFamily="2" charset="-122"/>
                        </a:rPr>
                        <a:t>LLMs</a:t>
                      </a:r>
                      <a:r>
                        <a:rPr lang="zh-CN" altLang="en-US" sz="1100" b="0" i="0">
                          <a:solidFill>
                            <a:srgbClr val="000000"/>
                          </a:solidFill>
                          <a:latin typeface="宋体" panose="02010600030101010101" pitchFamily="2" charset="-122"/>
                          <a:ea typeface="宋体" panose="02010600030101010101" pitchFamily="2" charset="-122"/>
                        </a:rPr>
                        <a:t>知识</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TarBKBERT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融合维基百科知识模型</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WS-BERT</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融合维基百科知识模型</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graphicFrame>
        <p:nvGraphicFramePr>
          <p:cNvPr id="12" name="表格 11"/>
          <p:cNvGraphicFramePr/>
          <p:nvPr/>
        </p:nvGraphicFramePr>
        <p:xfrm>
          <a:off x="6918960" y="4385310"/>
          <a:ext cx="3558540" cy="1645920"/>
        </p:xfrm>
        <a:graphic>
          <a:graphicData uri="http://schemas.openxmlformats.org/drawingml/2006/table">
            <a:tbl>
              <a:tblPr/>
              <a:tblGrid>
                <a:gridCol w="1043940"/>
                <a:gridCol w="2514600"/>
              </a:tblGrid>
              <a:tr h="182880">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基于</a:t>
                      </a:r>
                      <a:r>
                        <a:rPr lang="en-US" altLang="zh-CN" sz="1100" b="0" i="0">
                          <a:solidFill>
                            <a:srgbClr val="000000"/>
                          </a:solidFill>
                          <a:latin typeface="宋体" panose="02010600030101010101" pitchFamily="2" charset="-122"/>
                          <a:ea typeface="宋体" panose="02010600030101010101" pitchFamily="2" charset="-122"/>
                        </a:rPr>
                        <a:t>llm</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GPT-3.5-Turbo</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LLaMA-2</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TaskDes</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CoT-Demo</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CoTSC</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endParaRPr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KASD</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纳入维基百科知识进行检索增强生成</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COLA</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利用融入协作角色的基于</a:t>
                      </a:r>
                      <a:r>
                        <a:rPr lang="en-US" altLang="zh-CN" sz="1100" b="0" i="0">
                          <a:solidFill>
                            <a:srgbClr val="000000"/>
                          </a:solidFill>
                          <a:latin typeface="宋体" panose="02010600030101010101" pitchFamily="2" charset="-122"/>
                          <a:ea typeface="宋体" panose="02010600030101010101" pitchFamily="2" charset="-122"/>
                        </a:rPr>
                        <a:t>llm</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r h="182880">
                <a:tc>
                  <a:txBody>
                    <a:bodyPr/>
                    <a:p>
                      <a:pPr algn="l" fontAlgn="ctr"/>
                      <a:r>
                        <a:rPr lang="en-US" altLang="zh-CN" sz="1100" b="0" i="0">
                          <a:solidFill>
                            <a:srgbClr val="000000"/>
                          </a:solidFill>
                          <a:latin typeface="宋体" panose="02010600030101010101" pitchFamily="2" charset="-122"/>
                          <a:ea typeface="宋体" panose="02010600030101010101" pitchFamily="2" charset="-122"/>
                        </a:rPr>
                        <a:t>LC-CoT</a:t>
                      </a:r>
                      <a:r>
                        <a:rPr lang="en-US" altLang="zh-CN" sz="1100" b="0" i="0">
                          <a:solidFill>
                            <a:srgbClr val="000000"/>
                          </a:solidFill>
                          <a:latin typeface="宋体" panose="02010600030101010101" pitchFamily="2" charset="-122"/>
                          <a:ea typeface="宋体" panose="02010600030101010101" pitchFamily="2" charset="-122"/>
                        </a:rPr>
                        <a:t> </a:t>
                      </a:r>
                      <a:endParaRPr lang="en-US" altLang="zh-CN"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c>
                  <a:txBody>
                    <a:bodyPr/>
                    <a:p>
                      <a:pPr algn="l" fontAlgn="ctr"/>
                      <a:r>
                        <a:rPr lang="zh-CN" altLang="en-US" sz="1100" b="0" i="0">
                          <a:solidFill>
                            <a:srgbClr val="000000"/>
                          </a:solidFill>
                          <a:latin typeface="宋体" panose="02010600030101010101" pitchFamily="2" charset="-122"/>
                          <a:ea typeface="宋体" panose="02010600030101010101" pitchFamily="2" charset="-122"/>
                        </a:rPr>
                        <a:t>利用逻辑一致的思维链</a:t>
                      </a:r>
                      <a:endParaRPr lang="zh-CN" altLang="en-US" sz="1100" b="0" i="0">
                        <a:solidFill>
                          <a:srgbClr val="000000"/>
                        </a:solidFill>
                        <a:latin typeface="宋体" panose="02010600030101010101" pitchFamily="2" charset="-122"/>
                        <a:ea typeface="宋体" panose="02010600030101010101" pitchFamily="2" charset="-122"/>
                      </a:endParaRPr>
                    </a:p>
                  </a:txBody>
                  <a:tcPr marL="7937" marR="7937" marT="7937" marB="0" anchor="ctr" anchorCtr="0">
                    <a:lnL>
                      <a:noFill/>
                    </a:lnL>
                    <a:lnR>
                      <a:noFill/>
                    </a:lnR>
                    <a:lnT>
                      <a:noFill/>
                    </a:lnT>
                    <a:lnB>
                      <a:noFill/>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6</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 Result</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20" name="文本框 19"/>
          <p:cNvSpPr txBox="1"/>
          <p:nvPr/>
        </p:nvSpPr>
        <p:spPr>
          <a:xfrm>
            <a:off x="811530" y="1963420"/>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In-Target </a:t>
            </a:r>
            <a:endParaRPr lang="en-US" altLang="zh-CN" dirty="0" smtClean="0">
              <a:solidFill>
                <a:schemeClr val="tx1">
                  <a:lumMod val="75000"/>
                  <a:lumOff val="25000"/>
                </a:schemeClr>
              </a:solidFill>
            </a:endParaRPr>
          </a:p>
        </p:txBody>
      </p:sp>
      <p:pic>
        <p:nvPicPr>
          <p:cNvPr id="21" name="图片 20"/>
          <p:cNvPicPr>
            <a:picLocks noChangeAspect="1"/>
          </p:cNvPicPr>
          <p:nvPr/>
        </p:nvPicPr>
        <p:blipFill>
          <a:blip r:embed="rId1"/>
          <a:stretch>
            <a:fillRect/>
          </a:stretch>
        </p:blipFill>
        <p:spPr>
          <a:xfrm>
            <a:off x="811530" y="2465070"/>
            <a:ext cx="7276465" cy="393065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6</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 Result</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20" name="文本框 19"/>
          <p:cNvSpPr txBox="1"/>
          <p:nvPr/>
        </p:nvSpPr>
        <p:spPr>
          <a:xfrm>
            <a:off x="811530" y="1656080"/>
            <a:ext cx="4064000" cy="423545"/>
          </a:xfrm>
          <a:prstGeom prst="rect">
            <a:avLst/>
          </a:prstGeom>
          <a:noFill/>
        </p:spPr>
        <p:txBody>
          <a:bodyPr wrap="square" rtlCol="0" anchor="ctr">
            <a:spAutoFit/>
          </a:bodyPr>
          <a:p>
            <a:pPr>
              <a:lnSpc>
                <a:spcPct val="120000"/>
              </a:lnSpc>
            </a:pPr>
            <a:r>
              <a:rPr lang="en-US" altLang="zh-CN" dirty="0" smtClean="0">
                <a:solidFill>
                  <a:schemeClr val="tx1">
                    <a:lumMod val="75000"/>
                    <a:lumOff val="25000"/>
                  </a:schemeClr>
                </a:solidFill>
              </a:rPr>
              <a:t>zero-shot</a:t>
            </a:r>
            <a:endParaRPr lang="en-US" altLang="zh-CN" dirty="0" smtClean="0">
              <a:solidFill>
                <a:schemeClr val="tx1">
                  <a:lumMod val="75000"/>
                  <a:lumOff val="25000"/>
                </a:schemeClr>
              </a:solidFill>
            </a:endParaRPr>
          </a:p>
        </p:txBody>
      </p:sp>
      <p:pic>
        <p:nvPicPr>
          <p:cNvPr id="2" name="图片 1"/>
          <p:cNvPicPr>
            <a:picLocks noChangeAspect="1"/>
          </p:cNvPicPr>
          <p:nvPr/>
        </p:nvPicPr>
        <p:blipFill>
          <a:blip r:embed="rId1"/>
          <a:stretch>
            <a:fillRect/>
          </a:stretch>
        </p:blipFill>
        <p:spPr>
          <a:xfrm>
            <a:off x="811530" y="2079625"/>
            <a:ext cx="8310880" cy="45161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6</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 Result</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811530" y="2173605"/>
            <a:ext cx="4876800" cy="39700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6</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 Result</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2" name="图片 1"/>
          <p:cNvPicPr>
            <a:picLocks noChangeAspect="1"/>
          </p:cNvPicPr>
          <p:nvPr/>
        </p:nvPicPr>
        <p:blipFill>
          <a:blip r:embed="rId1"/>
          <a:stretch>
            <a:fillRect/>
          </a:stretch>
        </p:blipFill>
        <p:spPr>
          <a:xfrm>
            <a:off x="1123950" y="2275840"/>
            <a:ext cx="6193790" cy="385381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6</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Experiment Result</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pic>
        <p:nvPicPr>
          <p:cNvPr id="3" name="图片 2"/>
          <p:cNvPicPr>
            <a:picLocks noChangeAspect="1"/>
          </p:cNvPicPr>
          <p:nvPr/>
        </p:nvPicPr>
        <p:blipFill>
          <a:blip r:embed="rId1"/>
          <a:stretch>
            <a:fillRect/>
          </a:stretch>
        </p:blipFill>
        <p:spPr>
          <a:xfrm>
            <a:off x="370205" y="874395"/>
            <a:ext cx="5725795" cy="3088005"/>
          </a:xfrm>
          <a:prstGeom prst="rect">
            <a:avLst/>
          </a:prstGeom>
        </p:spPr>
      </p:pic>
      <p:pic>
        <p:nvPicPr>
          <p:cNvPr id="4" name="图片 3"/>
          <p:cNvPicPr>
            <a:picLocks noChangeAspect="1"/>
          </p:cNvPicPr>
          <p:nvPr/>
        </p:nvPicPr>
        <p:blipFill>
          <a:blip r:embed="rId2"/>
          <a:stretch>
            <a:fillRect/>
          </a:stretch>
        </p:blipFill>
        <p:spPr>
          <a:xfrm>
            <a:off x="4877435" y="4154170"/>
            <a:ext cx="6522720" cy="2336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712470" y="1048385"/>
            <a:ext cx="11150600" cy="607695"/>
          </a:xfrm>
          <a:prstGeom prst="rect">
            <a:avLst/>
          </a:prstGeom>
        </p:spPr>
        <p:txBody>
          <a:bodyPr wrap="square">
            <a:spAutoFit/>
          </a:bodyPr>
          <a:p>
            <a:pPr algn="l">
              <a:lnSpc>
                <a:spcPct val="120000"/>
              </a:lnSpc>
              <a:buClrTx/>
              <a:buSzTx/>
              <a:buFontTx/>
            </a:pPr>
            <a:r>
              <a:rPr lang="en-US" altLang="zh-CN"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7</a:t>
            </a:r>
            <a:r>
              <a:rPr lang="zh-CN" altLang="en-US" sz="2800"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a:t>
            </a:r>
            <a:r>
              <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rPr>
              <a:t>Conclusion</a:t>
            </a:r>
            <a:endParaRPr lang="en-US" altLang="zh-CN" sz="2800" b="1" dirty="0" smtClean="0">
              <a:solidFill>
                <a:schemeClr val="tx1">
                  <a:lumMod val="75000"/>
                  <a:lumOff val="25000"/>
                </a:schemeClr>
              </a:solidFill>
              <a:latin typeface="Microsoft YaHei UI" panose="020B0503020204020204" charset="-122"/>
              <a:ea typeface="Microsoft YaHei UI" panose="020B0503020204020204" charset="-122"/>
              <a:cs typeface="Times New Roman" panose="02020603050405020304" charset="0"/>
              <a:sym typeface="+mn-ea"/>
            </a:endParaRPr>
          </a:p>
        </p:txBody>
      </p:sp>
      <p:sp>
        <p:nvSpPr>
          <p:cNvPr id="5" name="文本框 4"/>
          <p:cNvSpPr txBox="1"/>
          <p:nvPr/>
        </p:nvSpPr>
        <p:spPr>
          <a:xfrm>
            <a:off x="712470" y="2485708"/>
            <a:ext cx="9480550" cy="2748280"/>
          </a:xfrm>
          <a:prstGeom prst="rect">
            <a:avLst/>
          </a:prstGeom>
          <a:noFill/>
        </p:spPr>
        <p:txBody>
          <a:bodyPr wrap="square" rtlCol="0" anchor="ctr">
            <a:spAutoFit/>
          </a:bodyPr>
          <a:p>
            <a:pPr>
              <a:lnSpc>
                <a:spcPct val="120000"/>
              </a:lnSpc>
            </a:pPr>
            <a:r>
              <a:rPr lang="zh-CN" altLang="en-US" dirty="0" smtClean="0">
                <a:solidFill>
                  <a:schemeClr val="tx1">
                    <a:lumMod val="75000"/>
                    <a:lumOff val="25000"/>
                  </a:schemeClr>
                </a:solidFill>
              </a:rPr>
              <a:t>本文从因果关系的角度将</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在立场检测中的</a:t>
            </a:r>
            <a:r>
              <a:rPr lang="zh-CN" altLang="en-US" dirty="0" smtClean="0">
                <a:solidFill>
                  <a:schemeClr val="tx1">
                    <a:lumMod val="75000"/>
                    <a:lumOff val="25000"/>
                  </a:schemeClr>
                </a:solidFill>
                <a:highlight>
                  <a:srgbClr val="FFFF00"/>
                </a:highlight>
              </a:rPr>
              <a:t>偏差分为两种类型</a:t>
            </a:r>
            <a:r>
              <a:rPr lang="zh-CN" altLang="en-US" dirty="0" smtClean="0">
                <a:solidFill>
                  <a:schemeClr val="tx1">
                    <a:lumMod val="75000"/>
                    <a:lumOff val="25000"/>
                  </a:schemeClr>
                </a:solidFill>
              </a:rPr>
              <a:t>，并提出了</a:t>
            </a:r>
            <a:r>
              <a:rPr lang="zh-CN" altLang="en-US" dirty="0" smtClean="0">
                <a:solidFill>
                  <a:schemeClr val="tx1">
                    <a:lumMod val="75000"/>
                    <a:lumOff val="25000"/>
                  </a:schemeClr>
                </a:solidFill>
                <a:highlight>
                  <a:srgbClr val="FFFF00"/>
                </a:highlight>
              </a:rPr>
              <a:t>量化</a:t>
            </a:r>
            <a:r>
              <a:rPr lang="zh-CN" altLang="en-US" dirty="0" smtClean="0">
                <a:solidFill>
                  <a:schemeClr val="tx1">
                    <a:lumMod val="75000"/>
                    <a:lumOff val="25000"/>
                  </a:schemeClr>
                </a:solidFill>
              </a:rPr>
              <a:t>这些偏差的指标。提出了一个反事实的增强校准网络，称为</a:t>
            </a:r>
            <a:r>
              <a:rPr lang="en-US" altLang="zh-CN" dirty="0" smtClean="0">
                <a:solidFill>
                  <a:schemeClr val="tx1">
                    <a:lumMod val="75000"/>
                    <a:lumOff val="25000"/>
                  </a:schemeClr>
                </a:solidFill>
                <a:highlight>
                  <a:srgbClr val="FFFF00"/>
                </a:highlight>
              </a:rPr>
              <a:t>FACTUAL</a:t>
            </a:r>
            <a:r>
              <a:rPr lang="zh-CN" altLang="en-US" dirty="0" smtClean="0">
                <a:solidFill>
                  <a:schemeClr val="tx1">
                    <a:lumMod val="75000"/>
                    <a:lumOff val="25000"/>
                  </a:schemeClr>
                </a:solidFill>
              </a:rPr>
              <a:t>。其中，探索了一个可训练的校准网络和反事实数据增强，以减轻</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在立场检测中的偏差。在目标内立场检测和零样本立场检测上的实验结果表明，该方法能够有效降低</a:t>
            </a:r>
            <a:r>
              <a:rPr lang="en-US" altLang="zh-CN" dirty="0" smtClean="0">
                <a:solidFill>
                  <a:schemeClr val="tx1">
                    <a:lumMod val="75000"/>
                    <a:lumOff val="25000"/>
                  </a:schemeClr>
                </a:solidFill>
              </a:rPr>
              <a:t>llm</a:t>
            </a:r>
            <a:r>
              <a:rPr lang="zh-CN" altLang="en-US" dirty="0" smtClean="0">
                <a:solidFill>
                  <a:schemeClr val="tx1">
                    <a:lumMod val="75000"/>
                    <a:lumOff val="25000"/>
                  </a:schemeClr>
                </a:solidFill>
              </a:rPr>
              <a:t>在立场检测中的偏差，有助于提高性能。</a:t>
            </a:r>
            <a:endParaRPr lang="zh-CN" altLang="en-US" dirty="0" smtClean="0">
              <a:solidFill>
                <a:schemeClr val="tx1">
                  <a:lumMod val="75000"/>
                  <a:lumOff val="25000"/>
                </a:schemeClr>
              </a:solidFill>
            </a:endParaRPr>
          </a:p>
          <a:p>
            <a:pPr>
              <a:lnSpc>
                <a:spcPct val="120000"/>
              </a:lnSpc>
            </a:pPr>
            <a:endParaRPr lang="zh-CN" altLang="en-US" dirty="0" smtClean="0">
              <a:solidFill>
                <a:schemeClr val="tx1">
                  <a:lumMod val="75000"/>
                  <a:lumOff val="25000"/>
                </a:schemeClr>
              </a:solidFill>
            </a:endParaRPr>
          </a:p>
          <a:p>
            <a:pPr>
              <a:lnSpc>
                <a:spcPct val="120000"/>
              </a:lnSpc>
            </a:pPr>
            <a:r>
              <a:rPr lang="zh-CN" altLang="en-US" dirty="0" smtClean="0">
                <a:solidFill>
                  <a:schemeClr val="tx1">
                    <a:lumMod val="75000"/>
                    <a:lumOff val="25000"/>
                  </a:schemeClr>
                </a:solidFill>
              </a:rPr>
              <a:t>该框架涉及使用</a:t>
            </a:r>
            <a:r>
              <a:rPr lang="en-US" altLang="zh-CN" dirty="0" smtClean="0">
                <a:solidFill>
                  <a:schemeClr val="tx1">
                    <a:lumMod val="75000"/>
                    <a:lumOff val="25000"/>
                  </a:schemeClr>
                </a:solidFill>
              </a:rPr>
              <a:t>GPT-3.5</a:t>
            </a:r>
            <a:r>
              <a:rPr lang="zh-CN" altLang="en-US" dirty="0" smtClean="0">
                <a:solidFill>
                  <a:schemeClr val="tx1">
                    <a:lumMod val="75000"/>
                    <a:lumOff val="25000"/>
                  </a:schemeClr>
                </a:solidFill>
              </a:rPr>
              <a:t>来生成反事实增强数据。正如我们在附录</a:t>
            </a:r>
            <a:r>
              <a:rPr lang="en-US" altLang="zh-CN" dirty="0" smtClean="0">
                <a:solidFill>
                  <a:schemeClr val="tx1">
                    <a:lumMod val="75000"/>
                    <a:lumOff val="25000"/>
                  </a:schemeClr>
                </a:solidFill>
              </a:rPr>
              <a:t>F</a:t>
            </a:r>
            <a:r>
              <a:rPr lang="zh-CN" altLang="en-US" dirty="0" smtClean="0">
                <a:solidFill>
                  <a:schemeClr val="tx1">
                    <a:lumMod val="75000"/>
                    <a:lumOff val="25000"/>
                  </a:schemeClr>
                </a:solidFill>
              </a:rPr>
              <a:t>中讨论的，这些样本可能包含误差，但总体上对我们的校准网络的训练是有益的。使用人工标注或其他方法构建反事实增强数据的方法仍有待探索。</a:t>
            </a:r>
            <a:endParaRPr lang="zh-CN" altLang="en-US" dirty="0" smtClean="0">
              <a:solidFill>
                <a:schemeClr val="tx1">
                  <a:lumMod val="75000"/>
                  <a:lumOff val="25000"/>
                </a:schemeClr>
              </a:solidFill>
            </a:endParaRPr>
          </a:p>
        </p:txBody>
      </p:sp>
    </p:spTree>
  </p:cSld>
  <p:clrMapOvr>
    <a:masterClrMapping/>
  </p:clrMapOvr>
  <mc:AlternateContent xmlns:mc="http://schemas.openxmlformats.org/markup-compatibility/2006">
    <mc:Choice xmlns:p14="http://schemas.microsoft.com/office/powerpoint/2010/main" Requires="p14">
      <p:transition spd="med" p14:dur="750"/>
    </mc:Choice>
    <mc:Fallback>
      <p:transition spd="med"/>
    </mc:Fallback>
  </mc:AlternateContent>
</p:sld>
</file>

<file path=ppt/tags/tag1.xml><?xml version="1.0" encoding="utf-8"?>
<p:tagLst xmlns:p="http://schemas.openxmlformats.org/presentationml/2006/main">
  <p:tag name="TABLE_ENDDRAG_ORIGIN_RECT" val="260*93"/>
  <p:tag name="TABLE_ENDDRAG_RECT" val="474*176*260*93"/>
</p:tagLst>
</file>

<file path=ppt/tags/tag2.xml><?xml version="1.0" encoding="utf-8"?>
<p:tagLst xmlns:p="http://schemas.openxmlformats.org/presentationml/2006/main">
  <p:tag name="TABLE_ENDDRAG_ORIGIN_RECT" val="227*77"/>
  <p:tag name="TABLE_ENDDRAG_RECT" val="462*320*227*77"/>
</p:tagLst>
</file>

<file path=ppt/tags/tag3.xml><?xml version="1.0" encoding="utf-8"?>
<p:tagLst xmlns:p="http://schemas.openxmlformats.org/presentationml/2006/main">
  <p:tag name="TABLE_ENDDRAG_ORIGIN_RECT" val="247*39"/>
  <p:tag name="TABLE_ENDDRAG_RECT" val="469*447*247*39"/>
</p:tagLst>
</file>

<file path=ppt/tags/tag4.xml><?xml version="1.0" encoding="utf-8"?>
<p:tagLst xmlns:p="http://schemas.openxmlformats.org/presentationml/2006/main">
  <p:tag name="TABLE_ENDDRAG_ORIGIN_RECT" val="260*93"/>
  <p:tag name="TABLE_ENDDRAG_RECT" val="474*176*260*93"/>
</p:tagLst>
</file>

<file path=ppt/tags/tag5.xml><?xml version="1.0" encoding="utf-8"?>
<p:tagLst xmlns:p="http://schemas.openxmlformats.org/presentationml/2006/main">
  <p:tag name="TABLE_ENDDRAG_ORIGIN_RECT" val="157*57"/>
  <p:tag name="TABLE_ENDDRAG_RECT" val="397*176*157*57"/>
</p:tagLst>
</file>

<file path=ppt/tags/tag6.xml><?xml version="1.0" encoding="utf-8"?>
<p:tagLst xmlns:p="http://schemas.openxmlformats.org/presentationml/2006/main">
  <p:tag name="TABLE_ENDDRAG_ORIGIN_RECT" val="119*93"/>
  <p:tag name="TABLE_ENDDRAG_RECT" val="796*254*119*93"/>
</p:tagLst>
</file>

<file path=ppt/tags/tag7.xml><?xml version="1.0" encoding="utf-8"?>
<p:tagLst xmlns:p="http://schemas.openxmlformats.org/presentationml/2006/main">
  <p:tag name="TABLE_ENDDRAG_ORIGIN_RECT" val="267*290"/>
  <p:tag name="TABLE_ENDDRAG_RECT" val="527*185*267*290"/>
</p:tagLst>
</file>

<file path=ppt/tags/tag8.xml><?xml version="1.0" encoding="utf-8"?>
<p:tagLst xmlns:p="http://schemas.openxmlformats.org/presentationml/2006/main">
  <p:tag name="ISLIDE TOOLS.GUIDESSETTING" val="{&quot;Id&quot;:&quot;GuidesStyle_Normal&quot;,&quot;Name&quot;:&quot;正常&quot;,&quot;HeaderHeight&quot;:10.0,&quot;FooterHeight&quot;:4.0,&quot;SideMargin&quot;:3.0,&quot;TopMargin&quot;:3.0,&quot;BottomMargin&quot;:3.0,&quot;IntervalMargin&quot;:3.0}"/>
  <p:tag name="ISPRING_ULTRA_SCORM_COURSE_ID" val="11526A1D-F23A-45AD-A296-50EC9395FA4A"/>
  <p:tag name="ISPRING_SCORM_RATE_SLIDES" val="1"/>
  <p:tag name="ISPRINGONLINEFOLDERID" val="0"/>
  <p:tag name="ISPRINGONLINEFOLDERPATH" val="Content List"/>
  <p:tag name="ISPRINGCLOUDFOLDERID" val="0"/>
  <p:tag name="ISPRINGCLOUDFOLDERPATH" val="Repository"/>
  <p:tag name="ISPRING_PLAYERS_CUSTOMIZATION" val="UEsDBBQAAgAIAEOUV0cNwDEewAEAANoDAAAPAAAAbm9uZS9wbGF5ZXIueG1spZJPb9QwEMXPW6nfIfK9dpYKUa0cekDKiaJKC4jbyptME1PHDp4Ju/vtmfzZpFuQQOKQaPIy72fPs/X9sXHJT4hog8/EWqYiAV+E0voqE18+5zd34v799ZVunTlBTGyZCR88iKQELKJtiX2PhupMvBAkQ0XCL4+bI9pM1ETtRqnD4SAPtzLESr1J07X69vBxW9TQmBvrkYwvmLvs5VYkbbQhWjpl4l0qrq9WA/ICZ5F7fIXBdf3KKIvQqDYCgieIatz2bN3Q3838NMErOrWAgkdfDbPvTfH8EMrOAfbaSo9tWyDqCYO20rSx6zufYCwyMTbsGkA0FaB0vhJq9Ko/mPWTM1hPHLzA9ty22zuLNYsjfejeLerubBmyVxNHXYJ0M0wwnGLeOZeDoS5CKZIIPzrLVd5jv85HkK7FuJzn7h0+Wy/xULDGVW4KCvH0gR18JFOUco5ejtHLwdTbh+ITF49TnNsFMgezhKBratzbf86j7/6fOEp4Mp0jcV7B+hKOueW/BA2PQsAz9pqk1sl+tTOVd9ftmxdX40Iadzdl8R1FQiZWwNewNGTUos8w9Zqm1fg5JTTHotXv91JPRC5/AVBLAQIAABQAAgAIAEOUV0cNwDEewAEAANoDAAAPAAAAAAAAAAEAAAAAAAAAAABub25lL3BsYXllci54bWxQSwUGAAAAAAEAAQA9AAAA7QEAAAAA"/>
  <p:tag name="ISPRING_PRESENTATION_TITLE" val="20"/>
  <p:tag name="ISPRING_SCORM_ENDPOINT" val="&lt;endpoint&gt;&lt;enable&gt;0&lt;/enable&gt;&lt;lrs&gt;http://&lt;/lrs&gt;&lt;auth&gt;0&lt;/auth&gt;&lt;login&gt;&lt;/login&gt;&lt;password&gt;&lt;/password&gt;&lt;key&gt;&lt;/key&gt;&lt;name&gt;&lt;/name&gt;&lt;email&gt;&lt;/email&gt;&lt;/endpoint&gt;&#10;"/>
  <p:tag name="commondata" val="eyJoZGlkIjoiYjU4ZTFmNzIyNjNjZjI2YjJhNTczODViNzMwZWFhOTQifQ=="/>
</p:tagLst>
</file>

<file path=ppt/theme/theme1.xml><?xml version="1.0" encoding="utf-8"?>
<a:theme xmlns:a="http://schemas.openxmlformats.org/drawingml/2006/main" name="PPT定制1801380800">
  <a:themeElements>
    <a:clrScheme name="0">
      <a:dk1>
        <a:srgbClr val="000000"/>
      </a:dk1>
      <a:lt1>
        <a:srgbClr val="FFFFFF"/>
      </a:lt1>
      <a:dk2>
        <a:srgbClr val="44546A"/>
      </a:dk2>
      <a:lt2>
        <a:srgbClr val="E7E6E6"/>
      </a:lt2>
      <a:accent1>
        <a:srgbClr val="233F66"/>
      </a:accent1>
      <a:accent2>
        <a:srgbClr val="379ECA"/>
      </a:accent2>
      <a:accent3>
        <a:srgbClr val="BC5131"/>
      </a:accent3>
      <a:accent4>
        <a:srgbClr val="233F66"/>
      </a:accent4>
      <a:accent5>
        <a:srgbClr val="379ECA"/>
      </a:accent5>
      <a:accent6>
        <a:srgbClr val="BC5131"/>
      </a:accent6>
      <a:hlink>
        <a:srgbClr val="0563C1"/>
      </a:hlink>
      <a:folHlink>
        <a:srgbClr val="954F72"/>
      </a:folHlink>
    </a:clrScheme>
    <a:fontScheme name="Arial+微软雅黑">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PT定制1801380800">
  <a:themeElements>
    <a:clrScheme name="0">
      <a:dk1>
        <a:srgbClr val="000000"/>
      </a:dk1>
      <a:lt1>
        <a:srgbClr val="FFFFFF"/>
      </a:lt1>
      <a:dk2>
        <a:srgbClr val="44546A"/>
      </a:dk2>
      <a:lt2>
        <a:srgbClr val="E7E6E6"/>
      </a:lt2>
      <a:accent1>
        <a:srgbClr val="233F66"/>
      </a:accent1>
      <a:accent2>
        <a:srgbClr val="379ECA"/>
      </a:accent2>
      <a:accent3>
        <a:srgbClr val="BC5131"/>
      </a:accent3>
      <a:accent4>
        <a:srgbClr val="233F66"/>
      </a:accent4>
      <a:accent5>
        <a:srgbClr val="379ECA"/>
      </a:accent5>
      <a:accent6>
        <a:srgbClr val="BC5131"/>
      </a:accent6>
      <a:hlink>
        <a:srgbClr val="0563C1"/>
      </a:hlink>
      <a:folHlink>
        <a:srgbClr val="954F72"/>
      </a:folHlink>
    </a:clrScheme>
    <a:fontScheme name="Arial+微软雅黑">
      <a:majorFont>
        <a:latin typeface="Times New Roman"/>
        <a:ea typeface="微软雅黑"/>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nchor="ctr">
        <a:spAutoFit/>
      </a:bodyPr>
      <a:lstStyle>
        <a:defPPr>
          <a:lnSpc>
            <a:spcPct val="120000"/>
          </a:lnSpc>
          <a:defRPr dirty="0" smtClean="0">
            <a:solidFill>
              <a:schemeClr val="tx1">
                <a:lumMod val="75000"/>
                <a:lumOff val="25000"/>
              </a:schemeClr>
            </a:solidFill>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4912</Words>
  <Application>WPS 演示</Application>
  <PresentationFormat>宽屏</PresentationFormat>
  <Paragraphs>365</Paragraphs>
  <Slides>32</Slides>
  <Notes>24</Notes>
  <HiddenSlides>0</HiddenSlides>
  <MMClips>1</MMClips>
  <ScaleCrop>false</ScaleCrop>
  <HeadingPairs>
    <vt:vector size="6" baseType="variant">
      <vt:variant>
        <vt:lpstr>已用的字体</vt:lpstr>
      </vt:variant>
      <vt:variant>
        <vt:i4>15</vt:i4>
      </vt:variant>
      <vt:variant>
        <vt:lpstr>主题</vt:lpstr>
      </vt:variant>
      <vt:variant>
        <vt:i4>2</vt:i4>
      </vt:variant>
      <vt:variant>
        <vt:lpstr>幻灯片标题</vt:lpstr>
      </vt:variant>
      <vt:variant>
        <vt:i4>32</vt:i4>
      </vt:variant>
    </vt:vector>
  </HeadingPairs>
  <TitlesOfParts>
    <vt:vector size="49" baseType="lpstr">
      <vt:lpstr>Arial</vt:lpstr>
      <vt:lpstr>宋体</vt:lpstr>
      <vt:lpstr>Wingdings</vt:lpstr>
      <vt:lpstr>等线</vt:lpstr>
      <vt:lpstr>Times New Roman</vt:lpstr>
      <vt:lpstr>微软雅黑</vt:lpstr>
      <vt:lpstr>Microsoft YaHei UI</vt:lpstr>
      <vt:lpstr>NimbusRomNo9L-Regu</vt:lpstr>
      <vt:lpstr>Segoe Print</vt:lpstr>
      <vt:lpstr>Arial Unicode MS</vt:lpstr>
      <vt:lpstr>-apple-system</vt:lpstr>
      <vt:lpstr>Times New Roman</vt:lpstr>
      <vt:lpstr>Calibri</vt:lpstr>
      <vt:lpstr>Roboto</vt:lpstr>
      <vt:lpstr>NimbusRomNo9L-Regu</vt:lpstr>
      <vt:lpstr>PPT定制1801380800</vt:lpstr>
      <vt:lpstr>1_PPT定制1801380800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dc:title>
  <dc:creator>柚子设计</dc:creator>
  <cp:keywords>MC-PPT模板</cp:keywords>
  <cp:category>模板</cp:category>
  <cp:lastModifiedBy>A。。S。。L。。</cp:lastModifiedBy>
  <cp:revision>43</cp:revision>
  <dcterms:created xsi:type="dcterms:W3CDTF">2017-09-17T07:15:00Z</dcterms:created>
  <dcterms:modified xsi:type="dcterms:W3CDTF">2024-11-20T09:35:11Z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B6ED466D719A49CD94EFDB72F078283E_12</vt:lpwstr>
  </property>
  <property fmtid="{D5CDD505-2E9C-101B-9397-08002B2CF9AE}" pid="3" name="KSOProductBuildVer">
    <vt:lpwstr>2052-12.1.0.18912</vt:lpwstr>
  </property>
</Properties>
</file>